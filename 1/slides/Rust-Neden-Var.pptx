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Tanışma bitti, klavye kapalı. Bu blok tamamen anlatım.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Gerçekten sordurun, el kaldırtın. Çoğu 'hiç' diyecek.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Kaç kişi bunları kullanıyor? Rust'la yazıldığını bilen var mı?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 tercih değil, ihtiyaç. Neden ihtiyaç oldu? Sıradaki slayt.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sayıyı tahtaya yazın, dokuz gün boyunca orada dursun.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Korku pazarlamayın. Mesaj: bu hatayı insan yapıyor, makine yakalayabilir. Rust'ta dizinin sınırı dışına okumak derlenmez ya da panic eder — sessizce olmaz.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Çok yüzeysel geçin. Mesaj tek: C++ doğru aracı VERİYOR ama kullanmaya ZORLAMIYOR. Rust'ın farkı burada — Gün 2'de aynı fikri tekrar açacaksınız.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Sadece kulak aşinalığı. Ama bir noktayı söyleyin: segfault aslında İYİ durumdur — gürültüyle çöker, fark edersiniz. Kötüsü use-after-free: program çalışmaya devam eder, veriyi sessizce bozar. Rust ilk altısını derleme zamanında, sonuncusunu tip sistemiyle kapatıyor.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bir gün, başka bir makinede, başka bir derleyiciyle çöker. gcc -Wall uyarır ama uyarı sadece uyarıdır — derleme durmaz.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ÇEVİRİYİ SİZ SÖYLEYİN: 'Çöp toplayıcı olmadan bellek güvenliği. Veri yarışı olmadan eşzamanlılık. Ek maliyet olmadan soyutlama.' Üç satır da bu kampın bir gününe denk geliyor: 1. satır Gün 2, 2. satır Gün 8, 3. satır Gün 6. Bunu söyleyin — harita etkisi yapıyor.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Belleği kimin sahiplendiğini derleyiciye anlatıyorsunuz, gerisini o halleder. Bu cümle dilin merkezî iddiası — Ders 2'de derleyici boru hattında geri döneceksiniz.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Bunu Ders 3'te canlı göstereceğiz. Şimdilik sadece görsünler.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Kampın amacı o ilk haftayı sizin adınıza geçirmek. Bunu açıkça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ÖNEMLİ DÜZELTME: Hoare biyolog DEĞİL, meslekten derleyici mühendisi. Biyolojiyle ilişkisi sadece isim seçiminde. Sahnede 'biyologdu' demeyin.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Hikâye şirin ama tam doğrulanmış değil — 'anlatılır ki' diye verin. Asıl mesaj: Rust bir korku ürünü değil, üç ayrı kısıtın kesişimi.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Buradaki ders şu: bir dil kendi kararlarını geri alabilir. Rust bugünkü hâline özellik ekleyerek değil, ÇIKARARAK geldi. Trait tabanlı kompozisyon Gün 6'nın konusu — orada geri dönün.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'Ortadan kaldırması imkânsız' derken dil için çağrışım şu: Rust'ta güvenlik TEK bir bekçiye bağlı değil. GC'li dilde bekçi runtime'dır — onu kaldırırsanız güvenlik gider. Rust'ta güvenlik tipin İÇİNDE, her satıra dağılmış. Dürüst not: Graydon sonradan 'aslında ismin sesini beğenmiştim' de dedi.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 dilin maskotunu topluluğun uydurup şirketin onaylamak zorunda kalmaması başlı başına bir yönetişim örneği. Bir de şu terim var: bir projeyi Rust'a taşımaya 'oxidize etmek' deniyor. Pas metaforu her yere sinmiş.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'Yarın şirket vazgeçerse ne olur?' sorusunun cevabı bu. 2020'de Mozilla büyük bir işten çıkarma yaptı ve Rust ekibi de etkilendi — Foundation tam olarak bu yüzden kuruldu.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İkisi de izin verici (permissive) — GPL gibi copyleft değil. Bilinçli bir tercih: Rust'ın çekirdeğe ve kapalı kaynaklı ürünlere girebilmesi isteniyordu.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ayrım kritik. Üyeler: AWS, Google, Microsoft, Huawei, Meta, Arm, Mozilla, JetBrains... Para veriyorlar ama dilin yönünü belirlemiyorlar. Kurumsal fonlama ile teknik bağımsızlığı ayırmak bilinçli bir tasarım.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'Kurucusu bıraktıktan sonra da büyüyen dil' nadir bir şey. Bunu vurgulayın: dil bir kişiye de bir şirkete de bağlı değil. İsterseniz canlı bir RFC açıp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Dürüst olun: oyun tarafı henüz olgun değil, masaüstü GUI tarafı da öyle. Rust her yerde iyi değil — güçlü olduğu yer sistem katmanı.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ratatui'nin çekirdek bakımcılarından Orhun Parmaksız Ankara'da; git-cliff'in de yazarı, Arch Linux paketçisi, JetBrains'te Rust Developer Advocate. Uluslararası Rust ekosisteminde en görünür Türk geliştirici. Katılımcılara somut ve ulaşılabilir bir hedef gösteriyor.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Asıl mesaj: gitmeniz gerekmiyor. Konuşmaların TAMAMI kayıtlı ve ücretsiz. YouTube'da 'RustConf' aratmak tek başına bir müfredat. FOSDEM'i özellikle söyleyin — LKD kampının ruhuyla aynı yerden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 bir tanesini seçecekseniz: This Week in Rust. Haftada 10 dakika, ekosistemin nabzı. Abone olun deyin, tahtaya yazın.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DİKKAT: 'Rust Foundation Türkiye' diye resmî bir şube YOK — Foundation'ın ülke şubeleri yok. Olan şey bağımsız bir gönüllü topluluğu. Sahnede 'Türkiye Rust Community' deyin, 'Foundation'ın Türkiye kolu' demeyin.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 gelirse: LGBTİ+ geliştiricilerin Rust ekosisteminde görünür biçimde çok olması tesadüf değil, bu tasarım kararının sonucu. Başka yerlerde kendini güvende hissetmeyen insanlar buraya geldi. Bunu siyaset olarak değil TOPLULUK MÜHENDİSLİĞİ olarak sunun: 'kim katkı verebilir' sorusunun cevabını genişletmek katkı havuzunu büyütür. Olguyu söyleyip geçin, tartışmayı sınıfa açmayın — süreniz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Rehber s.11: özgür yazılım vurgusu isteniyor. Katılımcıları TÜKETİCİ değil ÜRETİCİ olmaya teşvik edin. Bir insanın dili değiştirebildiğini görmek 'üretici olmak' fikrini somutlaştırıyor.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Kodu OKUTMAYIN, sadece iki blokun ŞEKLİNE baktırın: biri uzun ve mekanik, diğeri kısa ve niyeti söylüyor. Söyleyeceğiniz cümle: 'Çoğu dilde soyutlama, hızdan verdiğiniz tavizle satın alınır. Rust'ta bu iki blok aynı makine koduna iniyor.' Sonra durun. Kimse .filter/.map bilmiyor — bilmeleri de gerekmiyor. Gün 6'da monomorphization'da hesabını soracaksınız.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sözü tahtaya yazın. Gün 6'da geri dönün.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Gün 2'nin zor olacağını şimdiden söylemek, o gün kaybetmemeyi sağlıyor.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3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228600"/>
            <a:ext cx="1280160" cy="128016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1441E"/>
                </a:solidFill>
                <a:latin typeface="Liberation Sans"/>
              </a:rPr>
              <a:t>GÜN 1 · DERS 1 · 70 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8778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EDEFF1"/>
                </a:solidFill>
                <a:latin typeface="Liberation Serif"/>
              </a:rPr>
              <a:t>Rust Neden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Mustafa Akgül Özgür Yazılım Yaz Kampı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DEFF1"/>
                </a:solidFill>
                <a:latin typeface="Liberation Serif"/>
              </a:rPr>
              <a:t>Bilgisayarınızda Rust'la yazılmış</a:t>
            </a:r>
          </a:p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DEFF1"/>
                </a:solidFill>
                <a:latin typeface="Liberation Serif"/>
              </a:rPr>
              <a:t>kaç program var?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9235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Tahmin edin. Sonra listeye bakalım.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Muhtemelen bunları kullanıyorsunuz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54680"/>
                <a:gridCol w="736092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Araç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Nerede karşınıza çıkıyor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ripgrep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VS Code'un arama motoru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fd, bat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find ve cat'in modern halleri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uv, ruff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Python paket ve lint araçları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deno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JavaScript runtime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alacritty, starship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terminal ve shell prompt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Ve bilmediğiniz yerlerde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013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Linux çekirdeği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67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6.1'den itibaren sürücü yazımı için Rust desteği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2432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8833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9008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Google yeni sistem bileşenlerini Rust'la yazıyor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4728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2900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Firefox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1304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CSS motoru (Stylo) ve medya kod çözücüleri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7024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3425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Cloudflare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3600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Nginx yerine geçen Pingora proxy'si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09320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5721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7492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5896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Microsoft çekirdek bileşenlerini taşıyor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DEFF1"/>
                </a:solidFill>
                <a:latin typeface="Liberation Serif"/>
              </a:rPr>
              <a:t>Bir dilin var olması için</a:t>
            </a:r>
          </a:p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DEFF1"/>
                </a:solidFill>
                <a:latin typeface="Liberation Serif"/>
              </a:rPr>
              <a:t>bir problemi çözmesi lazım.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9235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Rust hangi problemi çözüyor?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0" b="1" i="0">
                <a:solidFill>
                  <a:srgbClr val="C1441E"/>
                </a:solidFill>
                <a:latin typeface="Liberation Serif"/>
              </a:rPr>
              <a:t>%70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0332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EDEFF1"/>
                </a:solidFill>
                <a:latin typeface="Liberation Serif"/>
              </a:rPr>
              <a:t>Güvenlik açıklarının bellek güvenliği kaynaklı oranı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26280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93A1A9"/>
                </a:solidFill>
                <a:latin typeface="Liberation Sans"/>
              </a:rPr>
              <a:t>Microsoft ve Google ayrı ayrı ölçtü, aynı sonuca vardı.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Heartbleed, 2014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Tek bir sınır kontrolü eksikti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OpenSSL — internetin şifrelemesini yapan kütüphane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HTTPS sitelerinin çoğu bunu kullanıyordu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İstemci "bana 64 KB geri yolla" dedi, 1 byte gönderdi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Sunucu istenen uzunluğu doğrulamadan kendi belleğini okudu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Gelen 64 KB'ın içinde ne varsa dışarı çıktı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Şifreler, özel anahtarlar, oturum çerezleri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İz bırakmadı — kimin ne aldığı bilinemedi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Sunucuların yarısı sertifikalarını yenilemek zorunda kaldı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Peki belleği elle nasıl yönetiyoruz?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C ve C++'ta iş programcıda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C1441E"/>
                </a:solidFill>
                <a:latin typeface="Liberation Serif"/>
              </a:rPr>
              <a:t>C — tamamen 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malloc(n) ile yer iste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Boyutu kendin hesapla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free(p) ile geri bırak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Kimin bırakacağı yazılı değil — gelenek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E9887"/>
                </a:solidFill>
                <a:latin typeface="Liberation Serif"/>
              </a:rPr>
              <a:t>C++ — RAII yardımcı olur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Kurucuda al, yıkıcıda bırak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Kapsam biterse yıkıcı kendiliğinden çalışır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unique_ptr, shared_ptr işi kolaylaştırır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Ama zorunlu değil — yine kaçırabilirsin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Duyduğunuz o terimler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Hepsi aynı kökten: belleği kim, ne zaman bıraktı?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600" cy="3803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54680"/>
                <a:gridCol w="4206240"/>
                <a:gridCol w="315468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Terim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 oluyor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Sonucu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dangling pointer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Ölmüş belleği gösteren işaretçi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Ne bulursa onu okur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use-after-free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Bırakılmış belleği kullanmak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Açıkların en sevileni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double free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Aynı yeri iki kez bırakmak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Allocator bozulur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buffer overflow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Sınırın dışına yazmak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Klasik exploit yolu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memory leak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Hiç bırakmamak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Bellek şişer, servis düşer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segmentation fault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İşletim sistemi durdurur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Program anında ölür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data race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İki iş parçacığı aynı anda yazar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Tekrarlanamayan hata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Somut bir örnek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En küçük hâliyle dangling pointer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155448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1005840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char* selam() {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char yerel[] = "merhaba";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return yerel;      // yerel bu satirdan sonra yok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5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Liberation Sans"/>
              </a:rPr>
              <a:t>Bu C kodu derlenir. Çalışır. Bazen doğru sonuç bile verir.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Klasik çözüm: çöp toplayıcı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Java, C#, Go,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C1441E"/>
                </a:solidFill>
                <a:latin typeface="Liberation Serif"/>
              </a:rPr>
              <a:t>Kazandığınız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Belleği siz düşünmüyorsunuz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Bütün bir hata sınıfı kayboluyor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Kod daha kısa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E9887"/>
                </a:solidFill>
                <a:latin typeface="Liberation Serif"/>
              </a:rPr>
              <a:t>Ödediğiniz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Çalışma zamanında duraklamalar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Bellek fazlası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Bir runtime taşımak zorundasınız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Gömülü sistemde kullanamazsınız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İki seçenek vardı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İkisini birden isteyemez miyiz?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C1441E"/>
                </a:solidFill>
                <a:latin typeface="Liberation Serif"/>
              </a:rPr>
              <a:t>C /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Hızlı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Runtime yok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Elle yönetim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Programcı hata yapar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E9887"/>
                </a:solidFill>
                <a:latin typeface="Liberation Serif"/>
              </a:rPr>
              <a:t>Java / 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Güvenli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Kolay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GC duraklamaları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Runtime zorunlu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965960"/>
            <a:ext cx="9784080" cy="274320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737360"/>
            <a:ext cx="658368" cy="65836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92224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DEFF1"/>
                </a:solidFill>
                <a:latin typeface="Liberation Serif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331720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2500" b="0" i="1">
                <a:solidFill>
                  <a:srgbClr val="EDEFF1"/>
                </a:solidFill>
                <a:latin typeface="Liberation Serif"/>
              </a:rPr>
              <a:t>Memory safety without garbage collection.</a:t>
            </a:r>
          </a:p>
          <a:p>
            <a:pPr algn="l">
              <a:lnSpc>
                <a:spcPct val="145000"/>
              </a:lnSpc>
            </a:pPr>
            <a:r>
              <a:rPr sz="2500" b="0" i="1">
                <a:solidFill>
                  <a:srgbClr val="EDEFF1"/>
                </a:solidFill>
                <a:latin typeface="Liberation Serif"/>
              </a:rPr>
              <a:t>Concurrency without data races.</a:t>
            </a:r>
          </a:p>
          <a:p>
            <a:pPr algn="l">
              <a:lnSpc>
                <a:spcPct val="145000"/>
              </a:lnSpc>
            </a:pPr>
            <a:r>
              <a:rPr sz="2500" b="0" i="1">
                <a:solidFill>
                  <a:srgbClr val="EDEFF1"/>
                </a:solidFill>
                <a:latin typeface="Liberation Serif"/>
              </a:rPr>
              <a:t>Abstraction without overhead.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41148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9A441"/>
                </a:solidFill>
                <a:latin typeface="Liberation Sans"/>
              </a:rPr>
              <a:t>— rust-lang.org — Rust 1.0 duyurusu, 2015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DEFF1"/>
                </a:solidFill>
                <a:latin typeface="Liberation Serif"/>
              </a:rPr>
              <a:t>Bunların hiçbiri</a:t>
            </a:r>
          </a:p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DEFF1"/>
                </a:solidFill>
                <a:latin typeface="Liberation Serif"/>
              </a:rPr>
              <a:t>çalışma zamanı denetimi değil.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9235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Hepsi tip sisteminde çözülüyor.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Program çalışmaya başladığında kontrol edecek bir şey kalmıyor.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Aynı kod, Rust'ta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15600" cy="265176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92808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fn selam() -&gt; &amp;String {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let s = String::from("merhaba");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&amp;s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}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error[E0106]: missing lifetime specifier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help: this function's return type contains a borrowed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  value, but there is no value for it to be borrowed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6E9887"/>
                </a:solidFill>
                <a:latin typeface="Liberation Sans"/>
              </a:rPr>
              <a:t>Derlenmiyor. Müşteriye gitmiyor.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DEFF1"/>
                </a:solidFill>
                <a:latin typeface="Liberation Serif"/>
              </a:rPr>
              <a:t>Bunun bir bedeli var.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9235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Derleyici sizi durduruyor.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İlk hafta sinir olacaksınız.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965960"/>
            <a:ext cx="9784080" cy="274320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737360"/>
            <a:ext cx="658368" cy="65836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92224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DEFF1"/>
                </a:solidFill>
                <a:latin typeface="Liberation Serif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331720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2500" b="0" i="1">
                <a:solidFill>
                  <a:srgbClr val="EDEFF1"/>
                </a:solidFill>
                <a:latin typeface="Liberation Serif"/>
              </a:rPr>
              <a:t>Fighting the borrow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41148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9A441"/>
                </a:solidFill>
                <a:latin typeface="Liberation Sans"/>
              </a:rPr>
              <a:t>— Bu tabir gerçek — ve bir ay sonra kayboluyor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EDEFF1"/>
                </a:solidFill>
                <a:latin typeface="Liberation Serif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EDEFF1"/>
                </a:solidFill>
                <a:latin typeface="Liberation Serif"/>
              </a:rPr>
              <a:t>Peki bu dil nereden çıktı?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1272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Kısa bir hikâye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Graydon Hoare kimdir?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Kendi tabiriyle: "meslekten dil mühendisi"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Biyolog değil — kariyeri boyunca derleyici yazdı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Derleyiciler, profiler'lar, hata ayıklayıcılar, dağıtık sistemler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Rust'tan önce Monotone'u yazdı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Dağıtık sürüm kontrol sistemi — Git'in tasarımını etkileyen fikirlerden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2006'da Mozilla'da, 29 yaşında, 10 yıllık yazılımcı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Firefox'un JavaScript motoru (TraceMonkey) üzerinde çalışıyordu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Rust'tan sonra Apple'da Swift ekibine geçti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Red Hat, Mozilla, Apple, Stellar — hep dil ve derleyici işi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Ne çözmek istiyordu?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Asansör hikâyesi doğru ama eksik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Asansör bozuktu, 21 kat merdiven çıktı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Asansör yazılımı çökmüştü — bellek hatası. Eve girip tasarıma başladı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Ama tek derdi bellek değildi: eşzamanlılık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Firefox tek çekirdek kullanıyordu. Hedef çok çekirdekli tarayıcı motoruydu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Runtime taşımadan — C'nin girdiği her yere girebilmeli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Sürücü, çekirdek, gömülü sistem. GC'li bir dil buralara giremez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Mozilla parayı Servo için verdi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Yeni tarayıcı motoru. 2009'da kişisel proje olmaktan çıktı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Rust eskiden bambaşka bir dildi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1.0'a giden yolda dil KÜÇÜLDÜ — özellik eklenmedi, çıkarıldı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Sınıf ve kalıtım vardı — atıldı, yerine trait geldi (Gün 6)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Çöp toplayıcı vardı — @T "managed pointer" dile gömülüydü, kaldırıldı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Go gibi green thread ve runtime vardı — 2014'te tamamen söküldü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~T ve @T gibi sigil'ler vardı — Box&lt;T&gt; gibi normal tiplere dönüştü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1.0 Mayıs 2015'te çıktı: daha az özellik, daha net dil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İsim nereden geliyor?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rust = pas mantarı, bitkilerde hastalık yapan bir cins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Graydon'ın tarifi: "hayatta kalmak için aşırı mühendislik edilmiş"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over-engineered for survival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Beş ayrı yaşam evresi, birden fazla konak bitki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Bir evresini kırarsanız diğerinden devam eder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Bu yüzden ortadan kaldırması neredeyse imkânsız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Dayanıklılığı tek bir merkeze bağlı değil — her yere dağıtılmış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Ayrıca: pas = demirin oksitlenmesi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Düşük seviyeli, metale değen programlamanın rengi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Ferris ve Rustacean'lar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İkisi de topluluğun uydurması — ve ikisi de kelime oyunu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64922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crustacean = kabuklu deniz canlısı. Baştaki "c" düşünce: Rustacean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Kabukluların en tanıdık üyesi yengeç — maskot böyle doğdu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Ferris ismi ferrous'tan: demir içeren. Latince ferrum = demir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Yani pas → demir → ferrous → Ferris. Zincir kapanıyor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Resmî maskot DEĞİL. Kimse onaylamadı, herkes kullanıyor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Görseller kamu malı — rustacean.net, istediğiniz gibi kullanın</a:t>
            </a:r>
          </a:p>
        </p:txBody>
      </p:sp>
      <p:sp>
        <p:nvSpPr>
          <p:cNvPr id="6" name="Rounded Rectangle 5"/>
          <p:cNvSpPr/>
          <p:nvPr/>
        </p:nvSpPr>
        <p:spPr>
          <a:xfrm rot="19320000">
            <a:off x="8766352" y="3666744"/>
            <a:ext cx="694029" cy="157734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0880000">
            <a:off x="8598103" y="3856024"/>
            <a:ext cx="757123" cy="157734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1080000">
            <a:off x="8724290" y="4045305"/>
            <a:ext cx="651967" cy="157734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280000">
            <a:off x="10070287" y="3666744"/>
            <a:ext cx="694029" cy="157734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720000">
            <a:off x="10238536" y="3856024"/>
            <a:ext cx="757123" cy="157734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20520000">
            <a:off x="10112349" y="4045305"/>
            <a:ext cx="651967" cy="157734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3354" y="3225088"/>
            <a:ext cx="441655" cy="157734"/>
          </a:xfrm>
          <a:prstGeom prst="roundRect">
            <a:avLst/>
          </a:prstGeom>
          <a:solidFill>
            <a:srgbClr val="8E3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440000">
            <a:off x="7357262" y="2888589"/>
            <a:ext cx="736092" cy="399592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20400000">
            <a:off x="7409840" y="3267151"/>
            <a:ext cx="651967" cy="336499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01630" y="3225088"/>
            <a:ext cx="441655" cy="157734"/>
          </a:xfrm>
          <a:prstGeom prst="roundRect">
            <a:avLst/>
          </a:prstGeom>
          <a:solidFill>
            <a:srgbClr val="8E3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20160000">
            <a:off x="10764316" y="2888589"/>
            <a:ext cx="736092" cy="399592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200000">
            <a:off x="10816894" y="3267151"/>
            <a:ext cx="651967" cy="336499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09026" y="2594152"/>
            <a:ext cx="2418587" cy="1345996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02852" y="3140963"/>
            <a:ext cx="630936" cy="420623"/>
          </a:xfrm>
          <a:prstGeom prst="ellipse">
            <a:avLst/>
          </a:prstGeom>
          <a:solidFill>
            <a:srgbClr val="8E3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60789" y="2993745"/>
            <a:ext cx="715060" cy="420623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82024" y="2320747"/>
            <a:ext cx="315468" cy="315468"/>
          </a:xfrm>
          <a:prstGeom prst="ellipse">
            <a:avLst/>
          </a:prstGeom>
          <a:solidFill>
            <a:srgbClr val="ED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87180" y="2425903"/>
            <a:ext cx="136702" cy="136702"/>
          </a:xfrm>
          <a:prstGeom prst="ellipse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39147" y="2320747"/>
            <a:ext cx="315468" cy="315468"/>
          </a:xfrm>
          <a:prstGeom prst="ellipse">
            <a:avLst/>
          </a:prstGeom>
          <a:solidFill>
            <a:srgbClr val="ED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44303" y="2425903"/>
            <a:ext cx="136702" cy="136702"/>
          </a:xfrm>
          <a:prstGeom prst="ellipse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Liberation Sans"/>
              </a:rPr>
              <a:t>Kıskaçlar boşuna değil: derleyici hatayı yakalar, çalışma zamanına bırakmaz.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Kim sahibi?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013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2006 – 2009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67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Graydon'ın kişisel projesi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157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9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2009 –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81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Mozilla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301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11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2021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95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Rust Foundation — AWS, Google, Huawei, Microsoft, Mozilla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Lisans: MIT VEYA Apache-2.0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Kullanıcı hangisini isterse onu seçer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C1441E"/>
                </a:solidFill>
                <a:latin typeface="Liberation Serif"/>
              </a:rPr>
              <a:t>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Kısa ve müsamahakâr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Neredeyse hiç şart yok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En yaygın açık lisans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E9887"/>
                </a:solidFill>
                <a:latin typeface="Liberation Serif"/>
              </a:rPr>
              <a:t>Apache-2.0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Patent hükmü içeriyor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Kurumsalda tercih edilir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Katkı süreci tanımlı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EDEFF1"/>
                </a:solidFill>
                <a:latin typeface="Liberation Serif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EDEFF1"/>
                </a:solidFill>
                <a:latin typeface="Liberation Serif"/>
              </a:rPr>
              <a:t>Topluluk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1272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Dili kim yapıyor, nereden takip edilir?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Rust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2021'de kuruldu — kâr amacı gütmeyen vakıf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C1441E"/>
                </a:solidFill>
                <a:latin typeface="Liberation Serif"/>
              </a:rPr>
              <a:t>Ne YAPAR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Ticari markayı ve altyapıyı korur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crates.io ve CI masraflarını öder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Güvenlik ekibini fonlar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Bursiyer ve bakımcı ödemesi yapar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E9887"/>
                </a:solidFill>
                <a:latin typeface="Liberation Serif"/>
              </a:rPr>
              <a:t>Ne YAPMAZ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Dile teknik karar VERMEZ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Üye şirketler oy kullanmaz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Bir RFC'yi reddedemez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Teknik karar takımlarda kalır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Lideri kim? — Kimse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Rust'ta BDFL yok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Python'un Guido'su, Linux'un Linus'u gibi bir figür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Graydon 2013'te aktif liderliği bıraktı, dil devam etti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Leadership Council — 2023'ten beri, RFC 3392 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Her takımın bir temsilcisi. Yetkisi sınırlı ve tanımlı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Asıl iş takımlarda: lang, compiler, libs-api, infra, dev-tools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release, moderation ve çalışma grupları da var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Karar RFC ile alınır, tartışma herkese açık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github.com/rust-lang/rfcs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Rust bugün nerede?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Sistem programlamanın olduğu her yerde biraz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598" cy="3803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26676"/>
                <a:gridCol w="4044461"/>
                <a:gridCol w="4044461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Alan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Nerede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Not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İşletim sistemi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Linux 6.1+, Windows, Android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Sürücü ve çekirdek bileşenleri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Tarayıcı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Firefox — Stylo, Servo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Rust'ın doğum sebebi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Altyapı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Cloudflare Pingora, AWS Firecracker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Discord, Dropbox, Meta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Blockchain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Solana, Polkadot, Near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Yeni zincirlerin çoğu Rust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Oyun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Bevy motoru, Embark, Veloren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Henüz Unity/Unreal ölçeğinde değil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Veri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Polars, DataFusion, Arrow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Polars pandas'a rakip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Gömülü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embedded-hal, RTIC, ESP32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Espressif resmî Rust desteği veriyor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Bilmeniz gereken crate'ler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Hepsi açık kaynak, hepsi crates.io'da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600" cy="4279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54680"/>
                <a:gridCol w="736092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Crate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 işe yarar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serde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Serileştirme — JSON, YAML, TOML. Ekosistemin bel kemiği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tokio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Async çalışma zamanı — Gün 9'da göreceğiz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rayon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Paralellik: .iter() yerine .par_iter() yazın, o kadar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clap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Komut satırı argüman ayrıştırma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axum / actix-web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Web sunucusu — capstone projesinde axum kullanacağız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reqwest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HTTP istemcisi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ratatui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Terminal arayüzü — bakımcılarından biri Türkiye'den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bevy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Oyun motoru, ECS mimarisi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Konferanslar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Hepsinin kaydı YouTube'da, ücretsiz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598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35569"/>
                <a:gridCol w="2426676"/>
                <a:gridCol w="4853353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Etkinlik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Nerede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Not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RustConf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ABD, yıllık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En büyüğü — açılış konuşmaları iyi başlangıç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EuroRust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Avrupa, gezici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Her yıl başka şehir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Rust Nation UK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Londra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Eğitim ağırlıklı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RustLab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İtalya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Atölye ağırlıklı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FOSDEM — Rust devroom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Brüksel, şubat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Özgür yazılım dünyasının kalbi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Nereden öğrenilir, nasıl takip edilir?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4279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6240"/>
                <a:gridCol w="630936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Kaynak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 için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doc.rust-lang.org/book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"The Book" — resmî kitap, ücretsiz, açık lisanslı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doc.rust-lang.org/rust-by-example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Örnekle öğrenme, hepsi çalıştırılabilir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rustlings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Terminal alıştırmaları — ödevlerde kullanacağız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play.rust-lang.org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Kurulum olmadan dene, bağlantıyla paylaş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this-week-in-rust.org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Haftalık bülten — takibin en kolay yolu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blog.rust-lang.org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Resmî blog, altı haftada bir sürüm duyurusu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users.rust-lang.org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Soru sorma forumu — acemi sorusu hoş karşılanır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reddit.com/r/rust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Günlük tartışma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Türkiye'de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Küçük ama gerçek bir topluluk var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Türkiye Rust Community — Discord ve Medium yayını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medium.com/turkiye-rust-community · Türkçe yazı serisi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Veli Uysal — topluluğu kuran ve yürüten isim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Türkçe Rust içeriğinin büyük kısmı buradan çıkıyor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Orhun Parmaksız — ratatui, git-cliff, Arch Linux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orhun.dev · FOSDEM ve RustLab konuşmacısı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Bu kamptan sonra gidilecek yer burası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Dokuz gün başlangıç. Devamı toplulukta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Bir dil sadece sözdizimi değildir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Rust'ın en çok konuşulan tercihlerinden biri teknik değil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1.0'dan ÖNCE bir Davranış Kuralları benimsendi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O dönem büyük diller arasında nadirdi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Metin açıkça sayıyor: cinsiyet kimliği, yönelim, engellilik, ırk, yaş, inanç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Açıkça saymak, o gruplara "burada yeriniz var" demenin yolu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Uygulayan gerçek bir ekip var: moderation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Süs değil — kural işletiliyor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Sistem programlama kültürü tarihsel olarak 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Rust bilinçli olarak başka bir ton seçti: "aptalca soru yoktur"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Özgür yazılımla bağı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Bu kampın konusu tam olarak 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Derleyici, standart kütüphane, Cargo — hepsi MIT/Apache-2.0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Resmî kitapların tamamı açık lisanslı — çevirebilir, çoğaltabilirsiniz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crates.io — yüz binlerce paket, her birinin lisansı ve kaynağı görünür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lib.rs — daha iyi kategorilerle alternatif arama arayüzü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blessed.rs — "bu iş için hangi crate?" sorusunun rehberi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EDEFF1"/>
                </a:solidFill>
                <a:latin typeface="Liberation Sans"/>
              </a:rPr>
              <a:t>▪  Derleyiciye katkı verenlerin büyük kısmı gönüllü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EDEFF1"/>
                </a:solidFill>
                <a:latin typeface="Liberation Serif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EDEFF1"/>
                </a:solidFill>
                <a:latin typeface="Liberation Serif"/>
              </a:rPr>
              <a:t>Ve son bir söz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1272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Dokuz gün boyunca hatırlatacağız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Zero-cost abstraction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15600" cy="347472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92808"/>
            <a:ext cx="10058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// (a) elle yazilmis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mut t = 0;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for n in sayilar {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if n % 2 == 0 { t += n * n; }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}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// (b) okunabilir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t: i32 = sayilar.iter()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.filter(|n| *n % 2 == 0)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.map(|n| n * n)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.sum();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Liberation Sans"/>
              </a:rPr>
              <a:t>İddia: ikisi aynı makine kodunu üretiyor.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965960"/>
            <a:ext cx="9784080" cy="274320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737360"/>
            <a:ext cx="658368" cy="65836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92224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DEFF1"/>
                </a:solidFill>
                <a:latin typeface="Liberation Serif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331720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2500" b="0" i="1">
                <a:solidFill>
                  <a:srgbClr val="EDEFF1"/>
                </a:solidFill>
                <a:latin typeface="Liberation Serif"/>
              </a:rPr>
              <a:t>Soyutlamayı sen yazarsın,</a:t>
            </a:r>
          </a:p>
          <a:p>
            <a:pPr algn="l">
              <a:lnSpc>
                <a:spcPct val="145000"/>
              </a:lnSpc>
            </a:pPr>
            <a:r>
              <a:rPr sz="2500" b="0" i="1">
                <a:solidFill>
                  <a:srgbClr val="EDEFF1"/>
                </a:solidFill>
                <a:latin typeface="Liberation Serif"/>
              </a:rPr>
              <a:t>bedelini derleyici öder.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41148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9A441"/>
                </a:solidFill>
                <a:latin typeface="Liberation Sans"/>
              </a:rPr>
              <a:t>— Bugün sadece iddia ediyoruz. Hesabını Gün 6'da soracağız.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Dokuz günde ne yapacağız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4297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1560"/>
                <a:gridCol w="9464040"/>
              </a:tblGrid>
              <a:tr h="4297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Gün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Konu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Dilin temelleri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Ownership — en zor gün, sıkılırsanız normal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Koleksiyonlar, String, slice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4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Struct, enum, pattern matching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Hata yönetimi, modül, test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6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Generics, trait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7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Dispatch, lifetime, akıllı işaretçiler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8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Closure, iterator, thread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9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Async, unsafe, FFI, projeler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97680"/>
            <a:ext cx="4206240" cy="4206240"/>
          </a:xfrm>
          <a:prstGeom prst="ellipse">
            <a:avLst/>
          </a:prstGeom>
          <a:solidFill>
            <a:srgbClr val="23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EDEFF1"/>
                </a:solidFill>
                <a:latin typeface="Liberation Serif"/>
              </a:rPr>
              <a:t>Sorular?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Sıradaki blok: derleyici nasıl çalışıyor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