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385008-382F-429D-B0A6-8CE97C1185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Baslarken bu celiskiyi sorun: 431 program, 16 cekirdek. Nasil oluyor? Cevap bu 20 dakikanin tamami.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2708BB-B312-4A89-BA23-D66E3BF1167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Sinifin kendi makinesinde denemesini isteyin, sayilar benzer cikar. Bu slayt gunun butun sorusunu ortaya koyuyor: paylasilan az sayida cekirdek, cok sayida 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67F240-C05F-490D-A0D3-38D29655BD2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Klasik cumle: eszamanlilik bir YAPI meselesi, paralellik bir YURUTME meselesi. Tek cekirdekli bir telefon bile eszamanli calisir: muzik calarken ekrani ciziyor. Paralellik ise donanim ister. Her paralel program eszamanlidir; her eszamanli program paralel degildir.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2DD088-2C0F-49F5-88E7-FFE21F1161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Anlatirken zaman cizgisini tahtaya cizin. Zaman dilimi (time slice) tipik olarak birkac milisaniye. Insan gozu bunu fark etmez, o yuzden her sey ayni anda calisiyor SANIRIZ. Baglam degistirme maliyeti bos degil: register kaydet/yukle, cache soguyor, MMU tablolari degisiyor. Surecler arasi gecis, thread'ler arasi gecisten PAHALI - cunku bellek haritasi da degisiyor.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7E5FB0-05BF-4349-8083-D9BE71CE16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 ciktiyi ben aldim, uydurma degil - sinifta canli da gosterebilirsiniz. Ogretici olan: thread ozel bir sey degil, sadece BELLEGI PAYLASAN bir surec. Linux'ta ikisi de task_struct. fork() bu bayraklari vermez, o yuzden ayri bellek alani cikar. stack_size satirina dikkat cekin: 2 MiB rakami burada, sistem cagrisinin icinde goruluyor.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60C364-FBBF-4167-867D-C4785ECA6A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Uc hali tahtaya cizin, oklarla baglayin. Anahtar nokta: bloke thread cekirdek harcamiyor, isletim sistemi yerine baskasini koyuyor - bu yuzden 1870 thread 16 cekirdekte rahatca duruyor, cogu bloke. AMA bellek harciyor. Ders 4'te async'in derdi tam olarak bu: beklemek icin thread harcamamak.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125FE1-47D4-4640-98F6-0ED6E715B44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Kritik cumle: thread'ler heap'i paylasir. Iki thread ayni Vec'e dokunabiliyor cunku Vec'in verisi heap'te. Stack'ler ayri, o yuzden yerel degiskenler cakismaz. Surecler arasinda paylasim yok - bu yuzden guvenli ama iletisim pahali (IPC gerekir). Thread ucuz iletisim verir, bedeli: veri yarisi riski. Gun 2'deki bellek haritasinin ustune bunu koyun.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7C57DB-A624-49DD-BEF3-205EB2990EA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82 mikrosaniye kucuk gorunuyor ama 1000 kucuk is icin 82 ms eder; isin kendisi 1 ms ise zarardasiniz. Ders 1'de bunu olcerek gosterecegiz. Ayrica 10.000 baglanti icin 10.000 thread acamazsiniz: 2 MiB x 10.000 = 20 GB. Ders 4'te async tam bu yuzden var.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84F3F6-F84A-4BE5-9E55-9964204D19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 soruyu sinif mutlaka soruyor. Net cevap: paralellik icin bir yurutme birimi lazim ve o birim genelde thread. Ama iliski tek yonlu degil: thread actiginiz an paralellik garanti degil - cekirdek bosta degilse sirada bekler. Async ornegi onemli: Ders 4'te tek thread'de uc isi es zamanli yurutecegiz, hicbir paralellik yok ama sure ucte bire iniyor.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B178A4-6FC1-4A49-A5FE-4105DD87515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 slayt 'zero-cost abstraction' felsefesinin thread'lerdeki karsiligi: Rust size isletim sisteminin verdigini verir, ustune bedel koymaz. Go karsilastirmasi: goroutine ucuz ama runtime zorunlu. Rust ikisini ayirmis: thread = OS, hafif gorev = tokio task.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231FCD-1DF5-462D-A659-1255D75121A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spawn bir JoinHandle dondurur. join iki is yapar: bekler ve donen degeri verir. unwrap orada cunku thread panikleyebilir - join Result doner. Ciktinin sirasiz olmasi bir hata degil, tanimin kendisi: zamanlayici karar veriyor.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AAAE78-CFE6-4601-8EEB-2FCDE94324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 tabloyu tahtaya cizin. Anahtar cumle: hata zamanlamaya bagli, tekrarlanamiyor. Hata ayiklayici eklemek zamanlamayi degistirip hatayi kacirir (heisenbug). Cozum test etmek degil, MUMKUN OLMAMASINI saglamak.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C0E468-3C2D-499F-94B4-79F0444733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Haftanin en tatmin edici bagi: Gun 2'de ogrendikleri sarkan referans kurali bugun thread'de karsilarina cikiyor. C'de bu kod DERLENIR ve rastgele coker. Rust'ta derlenmez. Ayni verinin iki sahibi olamadigi icin veri yarisinin yarisi zaten kapandi.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7BAA5F-F995-4B20-B5AA-A2A6211B51D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Uc noktayi vurgulayin. BIR: move sahipligi devreder, geri donusu yok - main artik o veriye dokunamaz. IKI: Copy tipler istisna degil, sadece kopyalaniyorlar; move yine oluyor ama orijinal yerinde kaliyor. UC: move 'kac kez cagrilir'i belirlemez - move'lu closure hala Fn olabilir, iki kez cagrilabilir. Tasimak istemiyorsaniz thread::scope var: scope icindeki thread'ler scope bitmeden once bittigi icin derleyici odunc almaya izin veriyor. Kod seansinda ikisini de yazacagiz.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C7823A-1161-4B11-82DF-94D94797E2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Ikisi de MARKER trait: govdesi yok, derleyici otomatik cikariyor. Ogrenciler bu isimleri hata mesajlarinda gorecek: 'cannot be sent between threads safely'. Gun 7'de Rc&lt;RefCell&lt;T&gt;&gt; yazdik; Ders 2'de ayni yapiyi Arc&lt;Mutex&lt;T&gt;&gt; olarak yazacagiz. Sebep bu slayt.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AB6DA7-CC0B-41F1-8F2A-48D421FBD9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Rust bir hata SINIFINI kapatiyor - en sinsi olanini. Digerleri duruyor. Ders 2'de deadlock'u, Ders 1'de paralelligin ne zaman zarar ettigini olcerek gorecegiz.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A7503B-E417-4BE6-AB1F-507EC4B5750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Go'nun slogani: 'Bellegi paylasarak iletisme; ileterek paylas.' Rust ikisine de izin veriyor. Farki: kanala gonderdiginiz veri ELINIZDE KALMIYOR - ownership bunu garanti ediyor, bu yuzden kanalda veri yarisi imkansiz.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7477B2-E162-49D1-949A-AFFD020F92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Kod seansina geciyoruz: Ders 1 main.rs.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209E35-79B8-49F6-85AA-23A4BCADCB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3BFA54-14B6-4D8E-B9AA-20A336DCFB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BED6DC-67BE-469C-B8B0-94B9925D04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83C368-B9B5-4D60-9753-C950DBB5A6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261984-B1E0-4804-865A-FABA436F42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43FB0D-70ED-424A-A685-FC96C355D5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7F5A0F-EE0C-4231-BF00-3A1134265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7B6069-4A55-46D1-88A0-A7AC52106D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E90B6E-73D1-452F-81A7-7351D6E589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0288FF-92BF-41FE-BF04-F198C3A6C9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F50D1A-E333-49D9-870E-1C03E61364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C3EC5-9AA1-4C84-A3AB-4854E4B002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3600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2788920"/>
            <a:ext cx="12188520" cy="5436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05840" y="17373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GÜN 8 · DERS 1 · 20 DK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5840" y="214884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Eşzamanlılık, Thread ve Ownership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005840" y="30632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Bilgisayarınızda 431 program çalışıyor. Çekirdek sayısı 16.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Şu anda bu makinede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ps ile sayıldı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777240" y="1554480"/>
            <a:ext cx="10606680" cy="263304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960120" y="1691640"/>
            <a:ext cx="1024092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$ nproc                        -&gt;    16   cekirdek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$ ps -e --no-headers | wc -l   -&gt;   431   surec (process)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$ ps -eLf --no-headers | wc -l -&gt;  1870   thread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16 cekirdek, 1870 yurutme akisi.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Ayni anda en fazla 16 tanesi GERCEKTEN calisabilir.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Peki digerleri?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777240" y="441648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Cevap: hiçbiri sürekli çalışmıyor. İşletim sistemi hepsini sırayla, çok hızlı değiştiriyor.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İki kelime, iki ayrı soru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gün boyu bu ayrımı koruyacağız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777240" y="1554480"/>
            <a:ext cx="5120280" cy="409644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6309360" y="1554480"/>
            <a:ext cx="5074560" cy="416052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1005840" y="17373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EŞZAMANLILIK (concurrency)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6537960" y="17373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PARALELLİK (parallelism)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100584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Birden çok işi AYNI DÖNEMDE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100584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yürütmek.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100584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100584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İşler iç içe geçer, sırayla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00584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ilerler, araya girilir.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100584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5"/>
          <p:cNvSpPr/>
          <p:nvPr/>
        </p:nvSpPr>
        <p:spPr>
          <a:xfrm>
            <a:off x="100584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TEK çekirdekte de olur.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100584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1005840" y="5752800"/>
            <a:ext cx="461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  <a:ea typeface="Noto Sans CJK SC"/>
              </a:rPr>
              <a:t>Soru: işleri nasıl </a:t>
            </a: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DÜZENLERİM?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1005840" y="607176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653796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Birden çok işi AYNI ANDA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653796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fiziksel olarak yürütmek.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653796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653796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Çok çekirdek ŞART.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3"/>
          <p:cNvSpPr/>
          <p:nvPr/>
        </p:nvSpPr>
        <p:spPr>
          <a:xfrm>
            <a:off x="653796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Bu makinede en fazla 16.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4"/>
          <p:cNvSpPr/>
          <p:nvPr/>
        </p:nvSpPr>
        <p:spPr>
          <a:xfrm>
            <a:off x="653796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653796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Eşzamanlılığın bir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6"/>
          <p:cNvSpPr/>
          <p:nvPr/>
        </p:nvSpPr>
        <p:spPr>
          <a:xfrm>
            <a:off x="653796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gerçekleşme biçimidir.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7"/>
          <p:cNvSpPr/>
          <p:nvPr/>
        </p:nvSpPr>
        <p:spPr>
          <a:xfrm>
            <a:off x="6537960" y="56509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8"/>
          <p:cNvSpPr/>
          <p:nvPr/>
        </p:nvSpPr>
        <p:spPr>
          <a:xfrm>
            <a:off x="6537960" y="607176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Soru: nasıl HIZLANDIRIRIM?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İşletim sistemi 431 süreci nasıl yönetiyor?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zaman dilimi + bağlam değiştirme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777240" y="1554480"/>
            <a:ext cx="10606680" cy="387684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960120" y="1691640"/>
            <a:ext cx="10240920" cy="38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cekirdek 0'in zaman cizgisi: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|--tarayici--|--muzik--|--derleyici--|--tarayici--|--terminal--|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     ~5 ms      ~5 ms       ~5 ms         ~5 ms        ~5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Her degisimde ZAMANLAYICI (scheduler) devreye giriyor: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1. calisan surecin register'larini kaydet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2. siradakinin register'larini yukle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3. bellek haritasini (MMU) degistir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Buna BAGLAM DEGISTIRME (context switch) deniyor.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777240" y="566028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Bu makinede iki thread arasında gidiş-dönüş ~14 µs ölçüldü. Bedava değil — ama 5 ms'lik dilimin yanında küçük.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Thread'i aslında kim açıyor?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strace ile yakalandı — Rust'ın açtığı thread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5"/>
          <p:cNvSpPr/>
          <p:nvPr/>
        </p:nvSpPr>
        <p:spPr>
          <a:xfrm>
            <a:off x="777240" y="1554480"/>
            <a:ext cx="10606680" cy="325476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960120" y="1691640"/>
            <a:ext cx="1024092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$ strace -f -e trace=clone3 ./program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clone3({flags=CLONE_VM|CLONE_FS|CLONE_FILES|CLONE_SIGHAND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             |CLONE_THREAD|CLONE_SETTLS|...,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       stack_size=0x1fff40})           &lt;- 2 MiB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CLONE_VM     : ayni bellek alanini paylas  (heap ORTAK)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CLONE_FILES  : ayni acik dosyalari paylas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CLONE_THREAD : ayni surecin parcasi 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777240" y="503820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Linux'ta süreç de thread de aynı çekirdek yapısıdır (task). Fark: hangi bayrakları paylaştıkları.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Thread'in üç hâli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zamanlayıcı bunlar arasında gezdiriyor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val 5"/>
          <p:cNvSpPr/>
          <p:nvPr/>
        </p:nvSpPr>
        <p:spPr>
          <a:xfrm>
            <a:off x="777240" y="1710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051560" y="1600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ÇALIŞIYOR (running) — şu an bir çekirdekte. En fazla 16 tane olabilir.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7"/>
          <p:cNvSpPr/>
          <p:nvPr/>
        </p:nvSpPr>
        <p:spPr>
          <a:xfrm>
            <a:off x="777240" y="2277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1051560" y="2167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HAZIR (ready) — işi var, sırasını bekliyor. Çekirdek boşalınca girecek.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val 9"/>
          <p:cNvSpPr/>
          <p:nvPr/>
        </p:nvSpPr>
        <p:spPr>
          <a:xfrm>
            <a:off x="777240" y="2843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1051560" y="2734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BLOKE (blocked) — I/O bekliyor: ağ, disk, kilit. Çekirdeği BIRAKTI.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val 11"/>
          <p:cNvSpPr/>
          <p:nvPr/>
        </p:nvSpPr>
        <p:spPr>
          <a:xfrm>
            <a:off x="777240" y="3410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1051560" y="3300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Bloke thread çekirdek harcamaz — ama 2 MiB stack'ini tutmaya devam eder.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Oval 13"/>
          <p:cNvSpPr/>
          <p:nvPr/>
        </p:nvSpPr>
        <p:spPr>
          <a:xfrm>
            <a:off x="777240" y="3977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1051560" y="3867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10.000 bağlantı = 10.000 bloke thread = 20 GB. İşte async'in sebebi (Ders 4).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Süreç ve thread farkı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ikisi de yürütme akışı — fark neyi paylaştıkları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5"/>
          <p:cNvSpPr/>
          <p:nvPr/>
        </p:nvSpPr>
        <p:spPr>
          <a:xfrm>
            <a:off x="777240" y="1554480"/>
            <a:ext cx="10606680" cy="387684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960120" y="1691640"/>
            <a:ext cx="10240920" cy="38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SUREC (process)                               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+--------------------------------------------+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|  KOD        (ortak)                     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|  STATIC     (ortak)                     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|  HEAP       (ortak)  &lt;- Box, Vec, String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|                                         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|  +----------------+   +----------------+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|  | thread 1 STACK |   | thread 2 STACK |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|  | + register'lar |   | + register'lar |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|  +----------------+   +----------------+   |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+--------------------------------------------+   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777240" y="566028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İki SÜREÇ hiçbir şey paylaşmaz. Aynı sürecin iki THREAD'i heap'i paylaşır — bütün mesele burada.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Thread bedava değil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bu makinede ölçüldü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5"/>
          <p:cNvSpPr/>
          <p:nvPr/>
        </p:nvSpPr>
        <p:spPr>
          <a:xfrm>
            <a:off x="777240" y="1600200"/>
            <a:ext cx="5778720" cy="456840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914400" y="167328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7"/>
          <p:cNvSpPr/>
          <p:nvPr/>
        </p:nvSpPr>
        <p:spPr>
          <a:xfrm>
            <a:off x="6629400" y="1600200"/>
            <a:ext cx="4681440" cy="456840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6766560" y="16732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Değer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9"/>
          <p:cNvSpPr/>
          <p:nvPr/>
        </p:nvSpPr>
        <p:spPr>
          <a:xfrm>
            <a:off x="777240" y="2121480"/>
            <a:ext cx="577872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914400" y="220356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Ana thread stack (Linux)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1"/>
          <p:cNvSpPr/>
          <p:nvPr/>
        </p:nvSpPr>
        <p:spPr>
          <a:xfrm>
            <a:off x="6629400" y="2121480"/>
            <a:ext cx="468144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6766560" y="22035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8 MB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3"/>
          <p:cNvSpPr/>
          <p:nvPr/>
        </p:nvSpPr>
        <p:spPr>
          <a:xfrm>
            <a:off x="777240" y="2633400"/>
            <a:ext cx="5778720" cy="47520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4"/>
          <p:cNvSpPr/>
          <p:nvPr/>
        </p:nvSpPr>
        <p:spPr>
          <a:xfrm>
            <a:off x="914400" y="271584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Rust'ta açılan thread stack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5"/>
          <p:cNvSpPr/>
          <p:nvPr/>
        </p:nvSpPr>
        <p:spPr>
          <a:xfrm>
            <a:off x="6629400" y="2633400"/>
            <a:ext cx="4681440" cy="47520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6"/>
          <p:cNvSpPr/>
          <p:nvPr/>
        </p:nvSpPr>
        <p:spPr>
          <a:xfrm>
            <a:off x="6766560" y="27158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2 MiB (varsayılan)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7"/>
          <p:cNvSpPr/>
          <p:nvPr/>
        </p:nvSpPr>
        <p:spPr>
          <a:xfrm>
            <a:off x="777240" y="3145680"/>
            <a:ext cx="577872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8"/>
          <p:cNvSpPr/>
          <p:nvPr/>
        </p:nvSpPr>
        <p:spPr>
          <a:xfrm>
            <a:off x="914400" y="322776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Bir thread açıp beklemek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9"/>
          <p:cNvSpPr/>
          <p:nvPr/>
        </p:nvSpPr>
        <p:spPr>
          <a:xfrm>
            <a:off x="6629400" y="3145680"/>
            <a:ext cx="468144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0"/>
          <p:cNvSpPr/>
          <p:nvPr/>
        </p:nvSpPr>
        <p:spPr>
          <a:xfrm>
            <a:off x="6766560" y="32277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~82 µs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1"/>
          <p:cNvSpPr/>
          <p:nvPr/>
        </p:nvSpPr>
        <p:spPr>
          <a:xfrm>
            <a:off x="777240" y="3657600"/>
            <a:ext cx="5778720" cy="47520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2"/>
          <p:cNvSpPr/>
          <p:nvPr/>
        </p:nvSpPr>
        <p:spPr>
          <a:xfrm>
            <a:off x="914400" y="374004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İki thread arası gidiş-dönüş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23"/>
          <p:cNvSpPr/>
          <p:nvPr/>
        </p:nvSpPr>
        <p:spPr>
          <a:xfrm>
            <a:off x="6629400" y="3657600"/>
            <a:ext cx="4681440" cy="47520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4"/>
          <p:cNvSpPr/>
          <p:nvPr/>
        </p:nvSpPr>
        <p:spPr>
          <a:xfrm>
            <a:off x="6766560" y="37400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~14 µs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25"/>
          <p:cNvSpPr/>
          <p:nvPr/>
        </p:nvSpPr>
        <p:spPr>
          <a:xfrm>
            <a:off x="777240" y="4169520"/>
            <a:ext cx="577872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6"/>
          <p:cNvSpPr/>
          <p:nvPr/>
        </p:nvSpPr>
        <p:spPr>
          <a:xfrm>
            <a:off x="914400" y="425196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Bu makinedeki çekirdek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7"/>
          <p:cNvSpPr/>
          <p:nvPr/>
        </p:nvSpPr>
        <p:spPr>
          <a:xfrm>
            <a:off x="6629400" y="4169520"/>
            <a:ext cx="4681440" cy="47520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8"/>
          <p:cNvSpPr/>
          <p:nvPr/>
        </p:nvSpPr>
        <p:spPr>
          <a:xfrm>
            <a:off x="6766560" y="42519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16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Paralellik de thread mi kullanıyor?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kısa cevap: genelde evet, ama şart değil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5"/>
          <p:cNvSpPr/>
          <p:nvPr/>
        </p:nvSpPr>
        <p:spPr>
          <a:xfrm>
            <a:off x="777240" y="1710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051560" y="1600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Paralelliğin birimi thread'tir: işletim sistemi thread'leri FARKLI çekirdeklere dağıtır.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Oval 7"/>
          <p:cNvSpPr/>
          <p:nvPr/>
        </p:nvSpPr>
        <p:spPr>
          <a:xfrm>
            <a:off x="777240" y="2277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1051560" y="2167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Ama thread ≠ paralellik. Tek çekirdekte 100 thread açarsanız eşzamanlılık olur,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9"/>
          <p:cNvSpPr/>
          <p:nvPr/>
        </p:nvSpPr>
        <p:spPr>
          <a:xfrm>
            <a:off x="777240" y="2843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1051560" y="2734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   paralellik olmaz — sırayla çalışırlar.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Oval 11"/>
          <p:cNvSpPr/>
          <p:nvPr/>
        </p:nvSpPr>
        <p:spPr>
          <a:xfrm>
            <a:off x="777240" y="3410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1051560" y="3300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Ve paralellik illa thread gerektirmez: SIMD (tek çekirdek, tek komut çok veri),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val 13"/>
          <p:cNvSpPr/>
          <p:nvPr/>
        </p:nvSpPr>
        <p:spPr>
          <a:xfrm>
            <a:off x="777240" y="3977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1051560" y="3867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   GPU, ya da ayrı süreçler de paralellik verir.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Oval 15"/>
          <p:cNvSpPr/>
          <p:nvPr/>
        </p:nvSpPr>
        <p:spPr>
          <a:xfrm>
            <a:off x="777240" y="4544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1051560" y="4434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Rust'ta: thread::spawn -&gt; OS dağıtır · rayon -&gt; thread havuzu · async -&gt; tek thread'de eşzamanlılık.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Rust'ta thread = işletim sistemi thread'i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1:1 model, arada katman yok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Oval 5"/>
          <p:cNvSpPr/>
          <p:nvPr/>
        </p:nvSpPr>
        <p:spPr>
          <a:xfrm>
            <a:off x="777240" y="1710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1051560" y="1600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std::thread::spawn bir İŞLETİM SİSTEMİ thread'i açar (Linux'ta pthread).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Oval 7"/>
          <p:cNvSpPr/>
          <p:nvPr/>
        </p:nvSpPr>
        <p:spPr>
          <a:xfrm>
            <a:off x="777240" y="2277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1051560" y="2167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Rust'ın kendi thread zamanlayıcısı yoktur; zamanlayan işletim sistemidir.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al 9"/>
          <p:cNvSpPr/>
          <p:nvPr/>
        </p:nvSpPr>
        <p:spPr>
          <a:xfrm>
            <a:off x="777240" y="2843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1051560" y="2734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std bir runtime taşımaz — aynı dil gömülü sistemde de çalışsın diye.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1"/>
          <p:cNvSpPr/>
          <p:nvPr/>
        </p:nvSpPr>
        <p:spPr>
          <a:xfrm>
            <a:off x="777240" y="3410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2"/>
          <p:cNvSpPr/>
          <p:nvPr/>
        </p:nvSpPr>
        <p:spPr>
          <a:xfrm>
            <a:off x="1051560" y="3300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Go farklı: goroutine'ler M:N — runtime binlerce goroutine'i az sayıda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Oval 13"/>
          <p:cNvSpPr/>
          <p:nvPr/>
        </p:nvSpPr>
        <p:spPr>
          <a:xfrm>
            <a:off x="777240" y="3977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4"/>
          <p:cNvSpPr/>
          <p:nvPr/>
        </p:nvSpPr>
        <p:spPr>
          <a:xfrm>
            <a:off x="1051560" y="3867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   OS thread'ine dağıtır. Ucuz, ama runtime taşımak zorundasınız.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Oval 15"/>
          <p:cNvSpPr/>
          <p:nvPr/>
        </p:nvSpPr>
        <p:spPr>
          <a:xfrm>
            <a:off x="777240" y="4544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6"/>
          <p:cNvSpPr/>
          <p:nvPr/>
        </p:nvSpPr>
        <p:spPr>
          <a:xfrm>
            <a:off x="1051560" y="4434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O modeli isterseniz kütüphaneden eklersiniz: tokio — Ders 4.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spawn ve join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thread açmanın tamamı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5"/>
          <p:cNvSpPr/>
          <p:nvPr/>
        </p:nvSpPr>
        <p:spPr>
          <a:xfrm>
            <a:off x="777240" y="1554480"/>
            <a:ext cx="10606680" cy="294408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960120" y="1691640"/>
            <a:ext cx="1024092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handle = thread::spawn(|| {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  // bu blok AYRI bir thread'de calisir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  "sistem bizim"                  // deger dondurebilir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});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// main bu sirada kendi isini yapar...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let sonuc = handle.join().unwrap();  // bekle + degeri 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777240" y="472752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join() çağırmazsanız main bitince thread yarıda kesilebilir. Çıktı sırası GARANTİ DEĞİL.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Eşzamanlılık neden zor?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x += 1 tek bir işlem değil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5"/>
          <p:cNvSpPr/>
          <p:nvPr/>
        </p:nvSpPr>
        <p:spPr>
          <a:xfrm>
            <a:off x="777240" y="1554480"/>
            <a:ext cx="10606680" cy="325476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960120" y="1691640"/>
            <a:ext cx="10240920" cy="32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sayac += 1   aslinda uc adim:   oku / arttir / yaz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  cekirdek 0            cekirdek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oku    -&gt; 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                      oku    -&gt; 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arttir -&gt; 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                        arttir -&gt; 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yaz    -&gt; 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                        yaz    -&gt; 6     &lt;- iki artis, sonuc 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777240" y="503820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Bir artış kayboldu. HER ZAMAN olmuyor — testlerde geçer, üretimde patlar.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Rust'ın cevabı: `move`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thread ne kadar yaşayacak, derleyici bilmiyor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5"/>
          <p:cNvSpPr/>
          <p:nvPr/>
        </p:nvSpPr>
        <p:spPr>
          <a:xfrm>
            <a:off x="777240" y="1554480"/>
            <a:ext cx="10606680" cy="294408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960120" y="1691640"/>
            <a:ext cx="1024092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ekipman = vec![String::from("EMP granati")];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thread::spawn(|| println!("{:?}", ekipman));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error[E0373]: closure may outlive the current function,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              but it borrows `ekipman`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thread::spawn(move || println!("{:?}", ekipman));  // TASI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Courier New"/>
              </a:rPr>
              <a:t>println!("{:?}", ekipman);  // E0382: artik senin degil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777240" y="472752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ekipman main'de düşebilir, thread hâlâ çalışıyor olabilir → sarkan referans.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`move` tam olarak ne yapıyor?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sahiplik thread'e GEÇER — geri alamazsınız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5"/>
          <p:cNvSpPr/>
          <p:nvPr/>
        </p:nvSpPr>
        <p:spPr>
          <a:xfrm>
            <a:off x="777240" y="1554480"/>
            <a:ext cx="10606680" cy="263304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960120" y="1691640"/>
            <a:ext cx="10240920" cy="26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ad = String::from("Kaya");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let h = thread::spawn(move || ad.len());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C1441E"/>
                </a:solidFill>
                <a:effectLst/>
                <a:uFillTx/>
                <a:latin typeface="Courier New"/>
              </a:rPr>
              <a:t>println!("{}", ad);        // E0382: value moved into closure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sayi = 5;                        // i32 = Copy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let h = thread::spawn(move || sayi * 2);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println!("{}", sayi);      // CALISIR - kopyalandi, tasinmadi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777240" y="441648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Taşımak istemiyorsanız iki yol var: thread::scope ile ödünç alın, ya da Arc ile paylaşın.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Send ve Sync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derleyici verir, siz yazmazsınız (marker trait)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5"/>
          <p:cNvSpPr/>
          <p:nvPr/>
        </p:nvSpPr>
        <p:spPr>
          <a:xfrm>
            <a:off x="777240" y="1554480"/>
            <a:ext cx="5120280" cy="507492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ounded Rectangle 6"/>
          <p:cNvSpPr/>
          <p:nvPr/>
        </p:nvSpPr>
        <p:spPr>
          <a:xfrm>
            <a:off x="6309360" y="1554480"/>
            <a:ext cx="5074560" cy="507492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7"/>
          <p:cNvSpPr/>
          <p:nvPr/>
        </p:nvSpPr>
        <p:spPr>
          <a:xfrm>
            <a:off x="1005840" y="17373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Send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8"/>
          <p:cNvSpPr/>
          <p:nvPr/>
        </p:nvSpPr>
        <p:spPr>
          <a:xfrm>
            <a:off x="6537960" y="17373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Sync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9"/>
          <p:cNvSpPr/>
          <p:nvPr/>
        </p:nvSpPr>
        <p:spPr>
          <a:xfrm>
            <a:off x="100584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Bu tip başka bir thread'e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0"/>
          <p:cNvSpPr/>
          <p:nvPr/>
        </p:nvSpPr>
        <p:spPr>
          <a:xfrm>
            <a:off x="100584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TAŞINABİLİR mi?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1"/>
          <p:cNvSpPr/>
          <p:nvPr/>
        </p:nvSpPr>
        <p:spPr>
          <a:xfrm>
            <a:off x="100584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2"/>
          <p:cNvSpPr/>
          <p:nvPr/>
        </p:nvSpPr>
        <p:spPr>
          <a:xfrm>
            <a:off x="100584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Arc&lt;T&gt;  -&gt; Send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3"/>
          <p:cNvSpPr/>
          <p:nvPr/>
        </p:nvSpPr>
        <p:spPr>
          <a:xfrm>
            <a:off x="100584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Rc&lt;T&gt;   -&gt; DEĞİL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4"/>
          <p:cNvSpPr/>
          <p:nvPr/>
        </p:nvSpPr>
        <p:spPr>
          <a:xfrm>
            <a:off x="100584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5"/>
          <p:cNvSpPr/>
          <p:nvPr/>
        </p:nvSpPr>
        <p:spPr>
          <a:xfrm>
            <a:off x="100584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Sebep: Rc'nin sayacı atomik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6"/>
          <p:cNvSpPr/>
          <p:nvPr/>
        </p:nvSpPr>
        <p:spPr>
          <a:xfrm>
            <a:off x="100584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değil. İki thread aynı anda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7"/>
          <p:cNvSpPr/>
          <p:nvPr/>
        </p:nvSpPr>
        <p:spPr>
          <a:xfrm>
            <a:off x="1005840" y="56509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artırırsa sayaç bozulur,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8"/>
          <p:cNvSpPr/>
          <p:nvPr/>
        </p:nvSpPr>
        <p:spPr>
          <a:xfrm>
            <a:off x="1005840" y="607176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veri erken düşer.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9"/>
          <p:cNvSpPr/>
          <p:nvPr/>
        </p:nvSpPr>
        <p:spPr>
          <a:xfrm>
            <a:off x="653796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Bu tipe &amp;T ile birden çok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0"/>
          <p:cNvSpPr/>
          <p:nvPr/>
        </p:nvSpPr>
        <p:spPr>
          <a:xfrm>
            <a:off x="653796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thread'den ERİŞİLEBİLİR mi?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1"/>
          <p:cNvSpPr/>
          <p:nvPr/>
        </p:nvSpPr>
        <p:spPr>
          <a:xfrm>
            <a:off x="653796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2"/>
          <p:cNvSpPr/>
          <p:nvPr/>
        </p:nvSpPr>
        <p:spPr>
          <a:xfrm>
            <a:off x="653796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Mutex&lt;T&gt;   -&gt; Sync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3"/>
          <p:cNvSpPr/>
          <p:nvPr/>
        </p:nvSpPr>
        <p:spPr>
          <a:xfrm>
            <a:off x="653796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RefCell&lt;T&gt; -&gt; DEĞİL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4"/>
          <p:cNvSpPr/>
          <p:nvPr/>
        </p:nvSpPr>
        <p:spPr>
          <a:xfrm>
            <a:off x="653796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5"/>
          <p:cNvSpPr/>
          <p:nvPr/>
        </p:nvSpPr>
        <p:spPr>
          <a:xfrm>
            <a:off x="653796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Sebep: RefCell'in ödünç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6"/>
          <p:cNvSpPr/>
          <p:nvPr/>
        </p:nvSpPr>
        <p:spPr>
          <a:xfrm>
            <a:off x="653796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sayacı çalışma zamanında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7"/>
          <p:cNvSpPr/>
          <p:nvPr/>
        </p:nvSpPr>
        <p:spPr>
          <a:xfrm>
            <a:off x="6537960" y="56509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tutuluyor ve thread-safe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8"/>
          <p:cNvSpPr/>
          <p:nvPr/>
        </p:nvSpPr>
        <p:spPr>
          <a:xfrm>
            <a:off x="6537960" y="607176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değil.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Rust ne söz veriyor, ne vermiyor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abartmayalım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Oval 5"/>
          <p:cNvSpPr/>
          <p:nvPr/>
        </p:nvSpPr>
        <p:spPr>
          <a:xfrm>
            <a:off x="777240" y="1710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1051560" y="1600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SÖZ: veri yarışı içeren kod DERLENMEZ. Ownership kuralı bunu kapatıyor.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Oval 7"/>
          <p:cNvSpPr/>
          <p:nvPr/>
        </p:nvSpPr>
        <p:spPr>
          <a:xfrm>
            <a:off x="777240" y="227700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1051560" y="2167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SÖZ DEĞİL: kilitlenme (deadlock) hâlâ mümkün — derleyici tek satır uyarmaz.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Oval 9"/>
          <p:cNvSpPr/>
          <p:nvPr/>
        </p:nvSpPr>
        <p:spPr>
          <a:xfrm>
            <a:off x="777240" y="2843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1051560" y="2734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SÖZ DEĞİL: yanlış sıra, eksik kilit, mantık hatası hâlâ sizin sorununuz.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Oval 11"/>
          <p:cNvSpPr/>
          <p:nvPr/>
        </p:nvSpPr>
        <p:spPr>
          <a:xfrm>
            <a:off x="777240" y="3410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1051560" y="3300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SÖZ DEĞİL: paralel kod otomatik HIZLI değil — thread açmanın bedeli var.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Oval 13"/>
          <p:cNvSpPr/>
          <p:nvPr/>
        </p:nvSpPr>
        <p:spPr>
          <a:xfrm>
            <a:off x="777240" y="3977640"/>
            <a:ext cx="109440" cy="10944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1051560" y="38678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"Fearless concurrency" = korkmadan deneyebilirsiniz; hatasız demek değil.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"/>
          <p:cNvSpPr/>
          <p:nvPr/>
        </p:nvSpPr>
        <p:spPr>
          <a:xfrm>
            <a:off x="548640" y="411480"/>
            <a:ext cx="82080" cy="56664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777240" y="384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İki yaklaşım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795600" y="9691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ikisi de Rust'ta var, ikisini de yazacağız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5"/>
          <p:cNvSpPr/>
          <p:nvPr/>
        </p:nvSpPr>
        <p:spPr>
          <a:xfrm>
            <a:off x="777240" y="1554480"/>
            <a:ext cx="5120280" cy="393156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6"/>
          <p:cNvSpPr/>
          <p:nvPr/>
        </p:nvSpPr>
        <p:spPr>
          <a:xfrm>
            <a:off x="6309360" y="1554480"/>
            <a:ext cx="5074560" cy="3931560"/>
          </a:xfrm>
          <a:prstGeom prst="roundRect">
            <a:avLst>
              <a:gd name="adj" fmla="val 16667"/>
            </a:avLst>
          </a:prstGeom>
          <a:solidFill>
            <a:srgbClr val="222B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05840" y="17373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PAYLAŞIMLI BELLEK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6537960" y="17373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MESAJLAŞMA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100584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Aynı veriye çok thread erişir,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0"/>
          <p:cNvSpPr/>
          <p:nvPr/>
        </p:nvSpPr>
        <p:spPr>
          <a:xfrm>
            <a:off x="100584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kilitle sıraya sokulur.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100584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100584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Rust: Arc&lt;Mutex&lt;T&gt;&gt;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100584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4"/>
          <p:cNvSpPr/>
          <p:nvPr/>
        </p:nvSpPr>
        <p:spPr>
          <a:xfrm>
            <a:off x="100584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+ kopyalama yok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100584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- deadlock riski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100584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1005840" y="56509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Ders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8"/>
          <p:cNvSpPr/>
          <p:nvPr/>
        </p:nvSpPr>
        <p:spPr>
          <a:xfrm>
            <a:off x="6537960" y="22860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Veri paylaşılmaz,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9"/>
          <p:cNvSpPr/>
          <p:nvPr/>
        </p:nvSpPr>
        <p:spPr>
          <a:xfrm>
            <a:off x="6537960" y="270648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SAHİPLİĞİ devredilir.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537960" y="31273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537960" y="35478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Rust: mpsc kanalları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2"/>
          <p:cNvSpPr/>
          <p:nvPr/>
        </p:nvSpPr>
        <p:spPr>
          <a:xfrm>
            <a:off x="6537960" y="39686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3"/>
          <p:cNvSpPr/>
          <p:nvPr/>
        </p:nvSpPr>
        <p:spPr>
          <a:xfrm>
            <a:off x="6537960" y="43891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+ akıl yürütmesi kolay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4"/>
          <p:cNvSpPr/>
          <p:nvPr/>
        </p:nvSpPr>
        <p:spPr>
          <a:xfrm>
            <a:off x="6537960" y="480960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- kopyalama/kanal maliyeti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5"/>
          <p:cNvSpPr/>
          <p:nvPr/>
        </p:nvSpPr>
        <p:spPr>
          <a:xfrm>
            <a:off x="6537960" y="5230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6"/>
          <p:cNvSpPr/>
          <p:nvPr/>
        </p:nvSpPr>
        <p:spPr>
          <a:xfrm>
            <a:off x="6537960" y="565092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Ders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822960" y="2148840"/>
            <a:ext cx="82080" cy="1554120"/>
          </a:xfrm>
          <a:prstGeom prst="rect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1143000" y="2194560"/>
            <a:ext cx="9966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7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Şimdi thread yazalım.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"/>
          <p:cNvSpPr/>
          <p:nvPr/>
        </p:nvSpPr>
        <p:spPr>
          <a:xfrm>
            <a:off x="1143000" y="365760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thread::spawn · move closure · thread::scope · ve paralelliğin ne zaman zarar ettiğini ölçmek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2026-08-29T08:34:26Z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