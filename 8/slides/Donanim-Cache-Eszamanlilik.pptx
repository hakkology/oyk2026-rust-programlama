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Gün 2'de bellek haritasını çizmiştik. Bugün o haritanın üstüne işlemciyi koyuyoruz — çünkü eşzamanlılığın zor olmasının sebebi donanımda.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'memory wall' deniyor. 1980'lerde CPU ve RAM benzer hızdaydı; bugün arada iki kat büyüklük mertebesi fark var. Cache hiyerarşisi bu uçurumu kapatmak için icat edildi — bir çözüm değil, bir yama.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Sayılar KABACA — işlemciye göre değişir, mertebe doğru. Vurgulanacak nokta: L1'den RAM'e inerken 100 kat, RAM'den SSD'ye inerken 1000 kat yavaşlıyorsunuz. Bu tablo tahtada dursun.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İnsan ölçeğine çevirmek sayıları hissedilir yapıyor. Söylenecek cümle: 'RAM'e gitmek, L1'e gitmenin yanında bir öğle molası vermek gibi.' Bu yüzden veriyi cache'te tutmak bir optimizasyon değil, performansın kendisi.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'spatial locality' deniyor — mekânsal yerellik. Bir de 'temporal locality' var: az önce kullandığınız veri muhtemelen hâlâ cache'te. İki ilke de aynı şeyi söylüyor: veriyi bir arada tut, bir arada kullan.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Gün 1'de 'sabitler önemsiz, büyüme hızı önemli' demiştiniz. Burada dürüst olun: BigO aynı olsa bile sabit 10 kat olabiliyor ve bu gerçek paradır. BigO yanlış değil, sadece hikâyenin tamamı değil. Vec&lt;Vec&lt;T&gt;&gt; yerine düz Vec&lt;T&gt; + indeks hesabı kullanmanın sebebi de bu.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Buradan sonrası eşzamanlılığın neden zor olduğunun cevabı. Tek çekirdekte 'bellek' tek bir gerçekti. Çok çekirdekte her çekirdeğin kendi görüşü var ve bunları tutarlı tutmak donanımın işi.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'false sharing' deniyor — sahte paylaşım. Kod doğru, sonuç doğru, performans felaket. Rust bunu ENGELLEMİYOR; Rust veri yarışını engelliyor, yavaşlığı değil. Dürüst olun: güvenli kod otomatik olarak hızlı kod demek değil. crossbeam'in CachePadded tipi tam olarak bu iş için var.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tabloyu tahtaya çizin. Anahtar cümle: hata HER ZAMAN olmuyor, zamanlamaya bağlı. Bu yüzden veri yarışları hata ayıklamanın en zor sınıfı — hata ayıklayıcı eklemek zamanlamayı değiştirip hatayı kaçırıyor ('heisenbug'). Çözüm test etmek değil, MÜMKÜN OLMAMASINI sağlamak.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Go'nun sloganı: 'Belleği paylaşarak iletişim kurmayın, iletişim kurarak belleği paylaşın.' Rust ikisine de izin veriyor ama ownership sayesinde mesajlaşmada veriyi gönderdikten sonra ELİNİZDE KALMIYOR — derleyici bunu garanti ediyor. Yarın Gün 9'da ikisini de yazacaksınız.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Haftanın en tatmin edici bağlantısı bu. Gün 2'de 'ya çok okuyucu ya tek yazıcı' kuralını bellek güvenliği için öğrendiler. Aynı kural, hiçbir ek şey yapmadan, veri yarışlarını da kapatıyor. Rust'ın 'fearless concurrency' dediği şey bu. AMA dürüst olun: kilitlenme (deadlock) hâlâ mümkün, false sharing hâlâ mümkün, mantık hatası hâlâ mümkün. Rust VERİ YARIŞINI kapatıyor, eşzamanlılığı kolaylaştırıyor ama çözmüyor.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371600"/>
            <a:ext cx="4754880" cy="4754880"/>
          </a:xfrm>
          <a:prstGeom prst="ellipse">
            <a:avLst/>
          </a:prstGeom>
          <a:solidFill>
            <a:srgbClr val="23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0" y="-228600"/>
            <a:ext cx="1280160" cy="1280160"/>
          </a:xfrm>
          <a:prstGeom prst="ellipse">
            <a:avLst/>
          </a:prstGeom>
          <a:solidFill>
            <a:srgbClr val="C14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8229600" cy="365760"/>
          </a:xfrm>
          <a:prstGeom prst="rect">
            <a:avLst/>
          </a:prstGeom>
          <a:noFill/>
        </p:spPr>
        <p:txBody>
          <a:bodyPr wrap="square" lIns="0" rIns="0" tIns="0" bIns="0" anchor="t">
            <a:spAutoFit/>
          </a:bodyPr>
          <a:lstStyle/>
          <a:p>
            <a:pPr algn="l"/>
            <a:r>
              <a:rPr sz="1300" b="1" i="0">
                <a:solidFill>
                  <a:srgbClr val="C1441E"/>
                </a:solidFill>
                <a:latin typeface="Liberation Sans"/>
              </a:rPr>
              <a:t>GÜN 8 · DERS 4 · 15 DK</a:t>
            </a:r>
          </a:p>
        </p:txBody>
      </p:sp>
      <p:sp>
        <p:nvSpPr>
          <p:cNvPr id="6" name="TextBox 5"/>
          <p:cNvSpPr txBox="1"/>
          <p:nvPr/>
        </p:nvSpPr>
        <p:spPr>
          <a:xfrm>
            <a:off x="822960" y="2423160"/>
            <a:ext cx="8778240" cy="1645920"/>
          </a:xfrm>
          <a:prstGeom prst="rect">
            <a:avLst/>
          </a:prstGeom>
          <a:noFill/>
        </p:spPr>
        <p:txBody>
          <a:bodyPr wrap="square" lIns="0" rIns="0" tIns="0" bIns="0" anchor="t">
            <a:spAutoFit/>
          </a:bodyPr>
          <a:lstStyle/>
          <a:p>
            <a:pPr algn="l"/>
            <a:r>
              <a:rPr sz="5200" b="1" i="0">
                <a:solidFill>
                  <a:srgbClr val="EDEFF1"/>
                </a:solidFill>
                <a:latin typeface="Liberation Serif"/>
              </a:rPr>
              <a:t>Donanım, Cache
ve Eşzamanlılık</a:t>
            </a:r>
          </a:p>
        </p:txBody>
      </p:sp>
      <p:sp>
        <p:nvSpPr>
          <p:cNvPr id="7" name="TextBox 6"/>
          <p:cNvSpPr txBox="1"/>
          <p:nvPr/>
        </p:nvSpPr>
        <p:spPr>
          <a:xfrm>
            <a:off x="822960" y="4251960"/>
            <a:ext cx="8229600" cy="822960"/>
          </a:xfrm>
          <a:prstGeom prst="rect">
            <a:avLst/>
          </a:prstGeom>
          <a:noFill/>
        </p:spPr>
        <p:txBody>
          <a:bodyPr wrap="square" lIns="0" rIns="0" tIns="0" bIns="0" anchor="t">
            <a:spAutoFit/>
          </a:bodyPr>
          <a:lstStyle/>
          <a:p>
            <a:pPr algn="l"/>
            <a:r>
              <a:rPr sz="1600" b="0" i="0">
                <a:solidFill>
                  <a:srgbClr val="93A1A9"/>
                </a:solidFill>
                <a:latin typeface="Liberation Sans"/>
              </a:rPr>
              <a:t>Thread yazmadan önce: altta gerçekte ne oluyor?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828800"/>
          </a:xfrm>
          <a:prstGeom prst="rect">
            <a:avLst/>
          </a:prstGeom>
          <a:noFill/>
        </p:spPr>
        <p:txBody>
          <a:bodyPr wrap="square" lIns="0" rIns="0" tIns="0" bIns="0" anchor="ctr">
            <a:spAutoFit/>
          </a:bodyPr>
          <a:lstStyle/>
          <a:p>
            <a:pPr algn="ctr">
              <a:lnSpc>
                <a:spcPct val="120000"/>
              </a:lnSpc>
            </a:pPr>
            <a:r>
              <a:rPr sz="4000" b="1" i="0">
                <a:solidFill>
                  <a:srgbClr val="C1441E"/>
                </a:solidFill>
                <a:latin typeface="Liberation Serif"/>
              </a:rPr>
              <a:t>İşlemci hızlandı.</a:t>
            </a:r>
          </a:p>
          <a:p>
            <a:pPr algn="ctr">
              <a:lnSpc>
                <a:spcPct val="120000"/>
              </a:lnSpc>
            </a:pPr>
            <a:r>
              <a:rPr sz="4000" b="1" i="0">
                <a:solidFill>
                  <a:srgbClr val="C1441E"/>
                </a:solidFill>
                <a:latin typeface="Liberation Serif"/>
              </a:rPr>
              <a:t>Bellek aynı hızda hızlanmadı.</a:t>
            </a:r>
          </a:p>
        </p:txBody>
      </p:sp>
      <p:sp>
        <p:nvSpPr>
          <p:cNvPr id="4" name="TextBox 3"/>
          <p:cNvSpPr txBox="1"/>
          <p:nvPr/>
        </p:nvSpPr>
        <p:spPr>
          <a:xfrm>
            <a:off x="1463040" y="4069080"/>
            <a:ext cx="9235440" cy="1005840"/>
          </a:xfrm>
          <a:prstGeom prst="rect">
            <a:avLst/>
          </a:prstGeom>
          <a:noFill/>
        </p:spPr>
        <p:txBody>
          <a:bodyPr wrap="square" lIns="0" rIns="0" tIns="0" bIns="0" anchor="t">
            <a:spAutoFit/>
          </a:bodyPr>
          <a:lstStyle/>
          <a:p>
            <a:pPr algn="ctr">
              <a:lnSpc>
                <a:spcPct val="130000"/>
              </a:lnSpc>
            </a:pPr>
            <a:r>
              <a:rPr sz="1700" b="0" i="0">
                <a:solidFill>
                  <a:srgbClr val="93A1A9"/>
                </a:solidFill>
                <a:latin typeface="Liberation Sans"/>
              </a:rPr>
              <a:t>Aradaki uçurum kapanmadı, büyüdü.</a:t>
            </a:r>
          </a:p>
          <a:p>
            <a:pPr algn="ctr">
              <a:lnSpc>
                <a:spcPct val="130000"/>
              </a:lnSpc>
            </a:pPr>
            <a:r>
              <a:rPr sz="1700" b="0" i="0">
                <a:solidFill>
                  <a:srgbClr val="93A1A9"/>
                </a:solidFill>
                <a:latin typeface="Liberation Sans"/>
              </a:rPr>
              <a:t>Modern bir CPU zamanının çoğunu bekleyerek geçiriyor.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Bellek hiyerarşisi</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Yukarı çıktıkça hızlı ve küçük, aşağı indikçe yavaş ve büyük</a:t>
            </a:r>
          </a:p>
        </p:txBody>
      </p:sp>
      <p:graphicFrame>
        <p:nvGraphicFramePr>
          <p:cNvPr id="5" name="Table 4"/>
          <p:cNvGraphicFramePr>
            <a:graphicFrameLocks noGrp="1"/>
          </p:cNvGraphicFramePr>
          <p:nvPr/>
        </p:nvGraphicFramePr>
        <p:xfrm>
          <a:off x="822960" y="1965960"/>
          <a:ext cx="10515598" cy="3803904"/>
        </p:xfrm>
        <a:graphic>
          <a:graphicData uri="http://schemas.openxmlformats.org/drawingml/2006/table">
            <a:tbl>
              <a:tblPr firstRow="1">
                <a:tableStyleId>{5C22544A-7EE6-4342-B048-85BDC9FD1C3A}</a:tableStyleId>
              </a:tblPr>
              <a:tblGrid>
                <a:gridCol w="2253342"/>
                <a:gridCol w="2253342"/>
                <a:gridCol w="3004457"/>
                <a:gridCol w="3004457"/>
              </a:tblGrid>
              <a:tr h="475488">
                <a:tc>
                  <a:txBody>
                    <a:bodyPr/>
                    <a:lstStyle/>
                    <a:p>
                      <a:r>
                        <a:rPr sz="1500" b="1">
                          <a:solidFill>
                            <a:srgbClr val="EDEFF1"/>
                          </a:solidFill>
                          <a:latin typeface="Liberation Sans"/>
                        </a:rPr>
                        <a:t>Katman</a:t>
                      </a:r>
                    </a:p>
                  </a:txBody>
                  <a:tcPr marL="146304" anchor="ctr">
                    <a:solidFill>
                      <a:srgbClr val="C1441E"/>
                    </a:solidFill>
                  </a:tcPr>
                </a:tc>
                <a:tc>
                  <a:txBody>
                    <a:bodyPr/>
                    <a:lstStyle/>
                    <a:p>
                      <a:r>
                        <a:rPr sz="1500" b="1">
                          <a:solidFill>
                            <a:srgbClr val="EDEFF1"/>
                          </a:solidFill>
                          <a:latin typeface="Liberation Sans"/>
                        </a:rPr>
                        <a:t>Gecikme</a:t>
                      </a:r>
                    </a:p>
                  </a:txBody>
                  <a:tcPr marL="146304" anchor="ctr">
                    <a:solidFill>
                      <a:srgbClr val="C1441E"/>
                    </a:solidFill>
                  </a:tcPr>
                </a:tc>
                <a:tc>
                  <a:txBody>
                    <a:bodyPr/>
                    <a:lstStyle/>
                    <a:p>
                      <a:r>
                        <a:rPr sz="1500" b="1">
                          <a:solidFill>
                            <a:srgbClr val="EDEFF1"/>
                          </a:solidFill>
                          <a:latin typeface="Liberation Sans"/>
                        </a:rPr>
                        <a:t>Boyut</a:t>
                      </a:r>
                    </a:p>
                  </a:txBody>
                  <a:tcPr marL="146304" anchor="ctr">
                    <a:solidFill>
                      <a:srgbClr val="C1441E"/>
                    </a:solidFill>
                  </a:tcPr>
                </a:tc>
                <a:tc>
                  <a:txBody>
                    <a:bodyPr/>
                    <a:lstStyle/>
                    <a:p>
                      <a:r>
                        <a:rPr sz="1500" b="1">
                          <a:solidFill>
                            <a:srgbClr val="EDEFF1"/>
                          </a:solidFill>
                          <a:latin typeface="Liberation Sans"/>
                        </a:rPr>
                        <a:t>Nerede</a:t>
                      </a:r>
                    </a:p>
                  </a:txBody>
                  <a:tcPr marL="146304" anchor="ctr">
                    <a:solidFill>
                      <a:srgbClr val="C1441E"/>
                    </a:solidFill>
                  </a:tcPr>
                </a:tc>
              </a:tr>
              <a:tr h="475488">
                <a:tc>
                  <a:txBody>
                    <a:bodyPr/>
                    <a:lstStyle/>
                    <a:p>
                      <a:r>
                        <a:rPr sz="1400" b="1">
                          <a:solidFill>
                            <a:srgbClr val="EDEFF1"/>
                          </a:solidFill>
                          <a:latin typeface="Liberation Sans"/>
                        </a:rPr>
                        <a:t>Register</a:t>
                      </a:r>
                    </a:p>
                  </a:txBody>
                  <a:tcPr marL="146304" anchor="ctr">
                    <a:solidFill>
                      <a:srgbClr val="2A343A"/>
                    </a:solidFill>
                  </a:tcPr>
                </a:tc>
                <a:tc>
                  <a:txBody>
                    <a:bodyPr/>
                    <a:lstStyle/>
                    <a:p>
                      <a:r>
                        <a:rPr sz="1400" b="0">
                          <a:solidFill>
                            <a:srgbClr val="93A1A9"/>
                          </a:solidFill>
                          <a:latin typeface="Liberation Sans"/>
                        </a:rPr>
                        <a:t>~0</a:t>
                      </a:r>
                    </a:p>
                  </a:txBody>
                  <a:tcPr marL="146304" anchor="ctr">
                    <a:solidFill>
                      <a:srgbClr val="2A343A"/>
                    </a:solidFill>
                  </a:tcPr>
                </a:tc>
                <a:tc>
                  <a:txBody>
                    <a:bodyPr/>
                    <a:lstStyle/>
                    <a:p>
                      <a:r>
                        <a:rPr sz="1400" b="0">
                          <a:solidFill>
                            <a:srgbClr val="93A1A9"/>
                          </a:solidFill>
                          <a:latin typeface="Liberation Sans"/>
                        </a:rPr>
                        <a:t>birkaç yüz byte</a:t>
                      </a:r>
                    </a:p>
                  </a:txBody>
                  <a:tcPr marL="146304" anchor="ctr">
                    <a:solidFill>
                      <a:srgbClr val="2A343A"/>
                    </a:solidFill>
                  </a:tcPr>
                </a:tc>
                <a:tc>
                  <a:txBody>
                    <a:bodyPr/>
                    <a:lstStyle/>
                    <a:p>
                      <a:r>
                        <a:rPr sz="1400" b="0">
                          <a:solidFill>
                            <a:srgbClr val="93A1A9"/>
                          </a:solidFill>
                          <a:latin typeface="Liberation Sans"/>
                        </a:rPr>
                        <a:t>çekirdeğin içinde</a:t>
                      </a:r>
                    </a:p>
                  </a:txBody>
                  <a:tcPr marL="146304" anchor="ctr">
                    <a:solidFill>
                      <a:srgbClr val="2A343A"/>
                    </a:solidFill>
                  </a:tcPr>
                </a:tc>
              </a:tr>
              <a:tr h="475488">
                <a:tc>
                  <a:txBody>
                    <a:bodyPr/>
                    <a:lstStyle/>
                    <a:p>
                      <a:r>
                        <a:rPr sz="1400" b="1">
                          <a:solidFill>
                            <a:srgbClr val="EDEFF1"/>
                          </a:solidFill>
                          <a:latin typeface="Liberation Sans"/>
                        </a:rPr>
                        <a:t>L1 cache</a:t>
                      </a:r>
                    </a:p>
                  </a:txBody>
                  <a:tcPr marL="146304" anchor="ctr">
                    <a:solidFill>
                      <a:srgbClr val="222B30"/>
                    </a:solidFill>
                  </a:tcPr>
                </a:tc>
                <a:tc>
                  <a:txBody>
                    <a:bodyPr/>
                    <a:lstStyle/>
                    <a:p>
                      <a:r>
                        <a:rPr sz="1400" b="0">
                          <a:solidFill>
                            <a:srgbClr val="93A1A9"/>
                          </a:solidFill>
                          <a:latin typeface="Liberation Sans"/>
                        </a:rPr>
                        <a:t>~1 ns</a:t>
                      </a:r>
                    </a:p>
                  </a:txBody>
                  <a:tcPr marL="146304" anchor="ctr">
                    <a:solidFill>
                      <a:srgbClr val="222B30"/>
                    </a:solidFill>
                  </a:tcPr>
                </a:tc>
                <a:tc>
                  <a:txBody>
                    <a:bodyPr/>
                    <a:lstStyle/>
                    <a:p>
                      <a:r>
                        <a:rPr sz="1400" b="0">
                          <a:solidFill>
                            <a:srgbClr val="93A1A9"/>
                          </a:solidFill>
                          <a:latin typeface="Liberation Sans"/>
                        </a:rPr>
                        <a:t>32–64 KB</a:t>
                      </a:r>
                    </a:p>
                  </a:txBody>
                  <a:tcPr marL="146304" anchor="ctr">
                    <a:solidFill>
                      <a:srgbClr val="222B30"/>
                    </a:solidFill>
                  </a:tcPr>
                </a:tc>
                <a:tc>
                  <a:txBody>
                    <a:bodyPr/>
                    <a:lstStyle/>
                    <a:p>
                      <a:r>
                        <a:rPr sz="1400" b="0">
                          <a:solidFill>
                            <a:srgbClr val="93A1A9"/>
                          </a:solidFill>
                          <a:latin typeface="Liberation Sans"/>
                        </a:rPr>
                        <a:t>her çekirdeğe özel</a:t>
                      </a:r>
                    </a:p>
                  </a:txBody>
                  <a:tcPr marL="146304" anchor="ctr">
                    <a:solidFill>
                      <a:srgbClr val="222B30"/>
                    </a:solidFill>
                  </a:tcPr>
                </a:tc>
              </a:tr>
              <a:tr h="475488">
                <a:tc>
                  <a:txBody>
                    <a:bodyPr/>
                    <a:lstStyle/>
                    <a:p>
                      <a:r>
                        <a:rPr sz="1400" b="1">
                          <a:solidFill>
                            <a:srgbClr val="EDEFF1"/>
                          </a:solidFill>
                          <a:latin typeface="Liberation Sans"/>
                        </a:rPr>
                        <a:t>L2 cache</a:t>
                      </a:r>
                    </a:p>
                  </a:txBody>
                  <a:tcPr marL="146304" anchor="ctr">
                    <a:solidFill>
                      <a:srgbClr val="2A343A"/>
                    </a:solidFill>
                  </a:tcPr>
                </a:tc>
                <a:tc>
                  <a:txBody>
                    <a:bodyPr/>
                    <a:lstStyle/>
                    <a:p>
                      <a:r>
                        <a:rPr sz="1400" b="0">
                          <a:solidFill>
                            <a:srgbClr val="93A1A9"/>
                          </a:solidFill>
                          <a:latin typeface="Liberation Sans"/>
                        </a:rPr>
                        <a:t>~4 ns</a:t>
                      </a:r>
                    </a:p>
                  </a:txBody>
                  <a:tcPr marL="146304" anchor="ctr">
                    <a:solidFill>
                      <a:srgbClr val="2A343A"/>
                    </a:solidFill>
                  </a:tcPr>
                </a:tc>
                <a:tc>
                  <a:txBody>
                    <a:bodyPr/>
                    <a:lstStyle/>
                    <a:p>
                      <a:r>
                        <a:rPr sz="1400" b="0">
                          <a:solidFill>
                            <a:srgbClr val="93A1A9"/>
                          </a:solidFill>
                          <a:latin typeface="Liberation Sans"/>
                        </a:rPr>
                        <a:t>256 KB – 1 MB</a:t>
                      </a:r>
                    </a:p>
                  </a:txBody>
                  <a:tcPr marL="146304" anchor="ctr">
                    <a:solidFill>
                      <a:srgbClr val="2A343A"/>
                    </a:solidFill>
                  </a:tcPr>
                </a:tc>
                <a:tc>
                  <a:txBody>
                    <a:bodyPr/>
                    <a:lstStyle/>
                    <a:p>
                      <a:r>
                        <a:rPr sz="1400" b="0">
                          <a:solidFill>
                            <a:srgbClr val="93A1A9"/>
                          </a:solidFill>
                          <a:latin typeface="Liberation Sans"/>
                        </a:rPr>
                        <a:t>genelde çekirdeğe özel</a:t>
                      </a:r>
                    </a:p>
                  </a:txBody>
                  <a:tcPr marL="146304" anchor="ctr">
                    <a:solidFill>
                      <a:srgbClr val="2A343A"/>
                    </a:solidFill>
                  </a:tcPr>
                </a:tc>
              </a:tr>
              <a:tr h="475488">
                <a:tc>
                  <a:txBody>
                    <a:bodyPr/>
                    <a:lstStyle/>
                    <a:p>
                      <a:r>
                        <a:rPr sz="1400" b="1">
                          <a:solidFill>
                            <a:srgbClr val="EDEFF1"/>
                          </a:solidFill>
                          <a:latin typeface="Liberation Sans"/>
                        </a:rPr>
                        <a:t>L3 cache</a:t>
                      </a:r>
                    </a:p>
                  </a:txBody>
                  <a:tcPr marL="146304" anchor="ctr">
                    <a:solidFill>
                      <a:srgbClr val="222B30"/>
                    </a:solidFill>
                  </a:tcPr>
                </a:tc>
                <a:tc>
                  <a:txBody>
                    <a:bodyPr/>
                    <a:lstStyle/>
                    <a:p>
                      <a:r>
                        <a:rPr sz="1400" b="0">
                          <a:solidFill>
                            <a:srgbClr val="93A1A9"/>
                          </a:solidFill>
                          <a:latin typeface="Liberation Sans"/>
                        </a:rPr>
                        <a:t>~15 ns</a:t>
                      </a:r>
                    </a:p>
                  </a:txBody>
                  <a:tcPr marL="146304" anchor="ctr">
                    <a:solidFill>
                      <a:srgbClr val="222B30"/>
                    </a:solidFill>
                  </a:tcPr>
                </a:tc>
                <a:tc>
                  <a:txBody>
                    <a:bodyPr/>
                    <a:lstStyle/>
                    <a:p>
                      <a:r>
                        <a:rPr sz="1400" b="0">
                          <a:solidFill>
                            <a:srgbClr val="93A1A9"/>
                          </a:solidFill>
                          <a:latin typeface="Liberation Sans"/>
                        </a:rPr>
                        <a:t>8–32 MB</a:t>
                      </a:r>
                    </a:p>
                  </a:txBody>
                  <a:tcPr marL="146304" anchor="ctr">
                    <a:solidFill>
                      <a:srgbClr val="222B30"/>
                    </a:solidFill>
                  </a:tcPr>
                </a:tc>
                <a:tc>
                  <a:txBody>
                    <a:bodyPr/>
                    <a:lstStyle/>
                    <a:p>
                      <a:r>
                        <a:rPr sz="1400" b="0">
                          <a:solidFill>
                            <a:srgbClr val="93A1A9"/>
                          </a:solidFill>
                          <a:latin typeface="Liberation Sans"/>
                        </a:rPr>
                        <a:t>çekirdekler ARASINDA paylaşılır</a:t>
                      </a:r>
                    </a:p>
                  </a:txBody>
                  <a:tcPr marL="146304" anchor="ctr">
                    <a:solidFill>
                      <a:srgbClr val="222B30"/>
                    </a:solidFill>
                  </a:tcPr>
                </a:tc>
              </a:tr>
              <a:tr h="475488">
                <a:tc>
                  <a:txBody>
                    <a:bodyPr/>
                    <a:lstStyle/>
                    <a:p>
                      <a:r>
                        <a:rPr sz="1400" b="1">
                          <a:solidFill>
                            <a:srgbClr val="EDEFF1"/>
                          </a:solidFill>
                          <a:latin typeface="Liberation Sans"/>
                        </a:rPr>
                        <a:t>RAM</a:t>
                      </a:r>
                    </a:p>
                  </a:txBody>
                  <a:tcPr marL="146304" anchor="ctr">
                    <a:solidFill>
                      <a:srgbClr val="2A343A"/>
                    </a:solidFill>
                  </a:tcPr>
                </a:tc>
                <a:tc>
                  <a:txBody>
                    <a:bodyPr/>
                    <a:lstStyle/>
                    <a:p>
                      <a:r>
                        <a:rPr sz="1400" b="0">
                          <a:solidFill>
                            <a:srgbClr val="93A1A9"/>
                          </a:solidFill>
                          <a:latin typeface="Liberation Sans"/>
                        </a:rPr>
                        <a:t>~80–100 ns</a:t>
                      </a:r>
                    </a:p>
                  </a:txBody>
                  <a:tcPr marL="146304" anchor="ctr">
                    <a:solidFill>
                      <a:srgbClr val="2A343A"/>
                    </a:solidFill>
                  </a:tcPr>
                </a:tc>
                <a:tc>
                  <a:txBody>
                    <a:bodyPr/>
                    <a:lstStyle/>
                    <a:p>
                      <a:r>
                        <a:rPr sz="1400" b="0">
                          <a:solidFill>
                            <a:srgbClr val="93A1A9"/>
                          </a:solidFill>
                          <a:latin typeface="Liberation Sans"/>
                        </a:rPr>
                        <a:t>GB'lar</a:t>
                      </a:r>
                    </a:p>
                  </a:txBody>
                  <a:tcPr marL="146304" anchor="ctr">
                    <a:solidFill>
                      <a:srgbClr val="2A343A"/>
                    </a:solidFill>
                  </a:tcPr>
                </a:tc>
                <a:tc>
                  <a:txBody>
                    <a:bodyPr/>
                    <a:lstStyle/>
                    <a:p>
                      <a:r>
                        <a:rPr sz="1400" b="0">
                          <a:solidFill>
                            <a:srgbClr val="93A1A9"/>
                          </a:solidFill>
                          <a:latin typeface="Liberation Sans"/>
                        </a:rPr>
                        <a:t>anakartta</a:t>
                      </a:r>
                    </a:p>
                  </a:txBody>
                  <a:tcPr marL="146304" anchor="ctr">
                    <a:solidFill>
                      <a:srgbClr val="2A343A"/>
                    </a:solidFill>
                  </a:tcPr>
                </a:tc>
              </a:tr>
              <a:tr h="475488">
                <a:tc>
                  <a:txBody>
                    <a:bodyPr/>
                    <a:lstStyle/>
                    <a:p>
                      <a:r>
                        <a:rPr sz="1400" b="1">
                          <a:solidFill>
                            <a:srgbClr val="EDEFF1"/>
                          </a:solidFill>
                          <a:latin typeface="Liberation Sans"/>
                        </a:rPr>
                        <a:t>NVMe SSD</a:t>
                      </a:r>
                    </a:p>
                  </a:txBody>
                  <a:tcPr marL="146304" anchor="ctr">
                    <a:solidFill>
                      <a:srgbClr val="222B30"/>
                    </a:solidFill>
                  </a:tcPr>
                </a:tc>
                <a:tc>
                  <a:txBody>
                    <a:bodyPr/>
                    <a:lstStyle/>
                    <a:p>
                      <a:r>
                        <a:rPr sz="1400" b="0">
                          <a:solidFill>
                            <a:srgbClr val="93A1A9"/>
                          </a:solidFill>
                          <a:latin typeface="Liberation Sans"/>
                        </a:rPr>
                        <a:t>~50–100 µs</a:t>
                      </a:r>
                    </a:p>
                  </a:txBody>
                  <a:tcPr marL="146304" anchor="ctr">
                    <a:solidFill>
                      <a:srgbClr val="222B30"/>
                    </a:solidFill>
                  </a:tcPr>
                </a:tc>
                <a:tc>
                  <a:txBody>
                    <a:bodyPr/>
                    <a:lstStyle/>
                    <a:p>
                      <a:r>
                        <a:rPr sz="1400" b="0">
                          <a:solidFill>
                            <a:srgbClr val="93A1A9"/>
                          </a:solidFill>
                          <a:latin typeface="Liberation Sans"/>
                        </a:rPr>
                        <a:t>TB'lar</a:t>
                      </a:r>
                    </a:p>
                  </a:txBody>
                  <a:tcPr marL="146304" anchor="ctr">
                    <a:solidFill>
                      <a:srgbClr val="222B30"/>
                    </a:solidFill>
                  </a:tcPr>
                </a:tc>
                <a:tc>
                  <a:txBody>
                    <a:bodyPr/>
                    <a:lstStyle/>
                    <a:p>
                      <a:r>
                        <a:rPr sz="1400" b="0">
                          <a:solidFill>
                            <a:srgbClr val="93A1A9"/>
                          </a:solidFill>
                          <a:latin typeface="Liberation Sans"/>
                        </a:rPr>
                        <a:t>diskte</a:t>
                      </a:r>
                    </a:p>
                  </a:txBody>
                  <a:tcPr marL="146304" anchor="ctr">
                    <a:solidFill>
                      <a:srgbClr val="222B30"/>
                    </a:solidFill>
                  </a:tcPr>
                </a:tc>
              </a:tr>
              <a:tr h="475488">
                <a:tc>
                  <a:txBody>
                    <a:bodyPr/>
                    <a:lstStyle/>
                    <a:p>
                      <a:r>
                        <a:rPr sz="1400" b="1">
                          <a:solidFill>
                            <a:srgbClr val="EDEFF1"/>
                          </a:solidFill>
                          <a:latin typeface="Liberation Sans"/>
                        </a:rPr>
                        <a:t>HDD</a:t>
                      </a:r>
                    </a:p>
                  </a:txBody>
                  <a:tcPr marL="146304" anchor="ctr">
                    <a:solidFill>
                      <a:srgbClr val="2A343A"/>
                    </a:solidFill>
                  </a:tcPr>
                </a:tc>
                <a:tc>
                  <a:txBody>
                    <a:bodyPr/>
                    <a:lstStyle/>
                    <a:p>
                      <a:r>
                        <a:rPr sz="1400" b="0">
                          <a:solidFill>
                            <a:srgbClr val="93A1A9"/>
                          </a:solidFill>
                          <a:latin typeface="Liberation Sans"/>
                        </a:rPr>
                        <a:t>~10 ms</a:t>
                      </a:r>
                    </a:p>
                  </a:txBody>
                  <a:tcPr marL="146304" anchor="ctr">
                    <a:solidFill>
                      <a:srgbClr val="2A343A"/>
                    </a:solidFill>
                  </a:tcPr>
                </a:tc>
                <a:tc>
                  <a:txBody>
                    <a:bodyPr/>
                    <a:lstStyle/>
                    <a:p>
                      <a:r>
                        <a:rPr sz="1400" b="0">
                          <a:solidFill>
                            <a:srgbClr val="93A1A9"/>
                          </a:solidFill>
                          <a:latin typeface="Liberation Sans"/>
                        </a:rPr>
                        <a:t>TB'lar</a:t>
                      </a:r>
                    </a:p>
                  </a:txBody>
                  <a:tcPr marL="146304" anchor="ctr">
                    <a:solidFill>
                      <a:srgbClr val="2A343A"/>
                    </a:solidFill>
                  </a:tcPr>
                </a:tc>
                <a:tc>
                  <a:txBody>
                    <a:bodyPr/>
                    <a:lstStyle/>
                    <a:p>
                      <a:r>
                        <a:rPr sz="1400" b="0">
                          <a:solidFill>
                            <a:srgbClr val="93A1A9"/>
                          </a:solidFill>
                          <a:latin typeface="Liberation Sans"/>
                        </a:rPr>
                        <a:t>diskte, dönen tabak</a:t>
                      </a:r>
                    </a:p>
                  </a:txBody>
                  <a:tcPr marL="146304" anchor="ctr">
                    <a:solidFill>
                      <a:srgbClr val="2A343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828800"/>
          </a:xfrm>
          <a:prstGeom prst="rect">
            <a:avLst/>
          </a:prstGeom>
          <a:noFill/>
        </p:spPr>
        <p:txBody>
          <a:bodyPr wrap="square" lIns="0" rIns="0" tIns="0" bIns="0" anchor="ctr">
            <a:spAutoFit/>
          </a:bodyPr>
          <a:lstStyle/>
          <a:p>
            <a:pPr algn="ctr">
              <a:lnSpc>
                <a:spcPct val="120000"/>
              </a:lnSpc>
            </a:pPr>
            <a:r>
              <a:rPr sz="4000" b="1" i="0">
                <a:solidFill>
                  <a:srgbClr val="D9A441"/>
                </a:solidFill>
                <a:latin typeface="Liberation Serif"/>
              </a:rPr>
              <a:t>L1'den bir veri okumak</a:t>
            </a:r>
          </a:p>
          <a:p>
            <a:pPr algn="ctr">
              <a:lnSpc>
                <a:spcPct val="120000"/>
              </a:lnSpc>
            </a:pPr>
            <a:r>
              <a:rPr sz="4000" b="1" i="0">
                <a:solidFill>
                  <a:srgbClr val="D9A441"/>
                </a:solidFill>
                <a:latin typeface="Liberation Serif"/>
              </a:rPr>
              <a:t>1 saniye sürseydi...</a:t>
            </a:r>
          </a:p>
        </p:txBody>
      </p:sp>
      <p:sp>
        <p:nvSpPr>
          <p:cNvPr id="4" name="TextBox 3"/>
          <p:cNvSpPr txBox="1"/>
          <p:nvPr/>
        </p:nvSpPr>
        <p:spPr>
          <a:xfrm>
            <a:off x="1463040" y="4069080"/>
            <a:ext cx="9235440" cy="1005840"/>
          </a:xfrm>
          <a:prstGeom prst="rect">
            <a:avLst/>
          </a:prstGeom>
          <a:noFill/>
        </p:spPr>
        <p:txBody>
          <a:bodyPr wrap="square" lIns="0" rIns="0" tIns="0" bIns="0" anchor="t">
            <a:spAutoFit/>
          </a:bodyPr>
          <a:lstStyle/>
          <a:p>
            <a:pPr algn="ctr">
              <a:lnSpc>
                <a:spcPct val="130000"/>
              </a:lnSpc>
            </a:pPr>
            <a:r>
              <a:rPr sz="1700" b="0" i="0">
                <a:solidFill>
                  <a:srgbClr val="93A1A9"/>
                </a:solidFill>
                <a:latin typeface="Liberation Sans"/>
              </a:rPr>
              <a:t>L2: 4 saniye · L3: 15 saniye · RAM: 1,5 dakika</a:t>
            </a:r>
          </a:p>
          <a:p>
            <a:pPr algn="ctr">
              <a:lnSpc>
                <a:spcPct val="130000"/>
              </a:lnSpc>
            </a:pPr>
            <a:r>
              <a:rPr sz="1700" b="0" i="0">
                <a:solidFill>
                  <a:srgbClr val="93A1A9"/>
                </a:solidFill>
                <a:latin typeface="Liberation Sans"/>
              </a:rPr>
              <a:t>SSD: bir gün · Disk: dört 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Cache satırı: 64 byte</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Bir byte isteyin, 64 byte gelsin</a:t>
            </a:r>
          </a:p>
        </p:txBody>
      </p:sp>
      <p:sp>
        <p:nvSpPr>
          <p:cNvPr id="5" name="Rounded Rectangle 4"/>
          <p:cNvSpPr/>
          <p:nvPr/>
        </p:nvSpPr>
        <p:spPr>
          <a:xfrm>
            <a:off x="822960" y="1965960"/>
            <a:ext cx="10515600" cy="2926079"/>
          </a:xfrm>
          <a:prstGeom prst="roundRect">
            <a:avLst/>
          </a:prstGeom>
          <a:solidFill>
            <a:srgbClr val="141A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67128"/>
            <a:ext cx="10058400" cy="2560320"/>
          </a:xfrm>
          <a:prstGeom prst="rect">
            <a:avLst/>
          </a:prstGeom>
          <a:noFill/>
        </p:spPr>
        <p:txBody>
          <a:bodyPr wrap="square" lIns="0" rIns="0" tIns="0" bIns="0" anchor="t">
            <a:spAutoFit/>
          </a:bodyPr>
          <a:lstStyle/>
          <a:p>
            <a:pPr algn="l">
              <a:lnSpc>
                <a:spcPct val="125000"/>
              </a:lnSpc>
            </a:pPr>
            <a:r>
              <a:rPr sz="1400" b="0" i="0">
                <a:solidFill>
                  <a:srgbClr val="EDEFF1"/>
                </a:solidFill>
                <a:latin typeface="Liberation Mono"/>
              </a:rPr>
              <a:t>let x = dizi[0];    // 1 byte istediniz</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  RAM'den gelen:  [ dizi[0] dizi[1] ... dizi[63] ]   64 byte</a:t>
            </a:r>
          </a:p>
          <a:p>
            <a:pPr algn="l">
              <a:lnSpc>
                <a:spcPct val="125000"/>
              </a:lnSpc>
            </a:pPr>
            <a:r>
              <a:rPr sz="1400" b="0" i="0">
                <a:solidFill>
                  <a:srgbClr val="EDEFF1"/>
                </a:solidFill>
                <a:latin typeface="Liberation Mono"/>
              </a:rPr>
              <a:t>                  &lt;------- tek bir cache satiri ------&gt;</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  dizi[1] artik BEDAVA - zaten L1'de</a:t>
            </a:r>
          </a:p>
          <a:p>
            <a:pPr algn="l">
              <a:lnSpc>
                <a:spcPct val="125000"/>
              </a:lnSpc>
            </a:pPr>
            <a:r>
              <a:rPr sz="1400" b="0" i="0">
                <a:solidFill>
                  <a:srgbClr val="EDEFF1"/>
                </a:solidFill>
                <a:latin typeface="Liberation Mono"/>
              </a:rPr>
              <a:t>  dizi[64] ise yeni bir satir demek - yine ~100 ns</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Donanim tek byte tasimaz. Hep satir tasir.</a:t>
            </a:r>
          </a:p>
        </p:txBody>
      </p:sp>
      <p:sp>
        <p:nvSpPr>
          <p:cNvPr id="7" name="TextBox 6"/>
          <p:cNvSpPr txBox="1"/>
          <p:nvPr/>
        </p:nvSpPr>
        <p:spPr>
          <a:xfrm>
            <a:off x="822960" y="5166359"/>
            <a:ext cx="10515600" cy="822960"/>
          </a:xfrm>
          <a:prstGeom prst="rect">
            <a:avLst/>
          </a:prstGeom>
          <a:noFill/>
        </p:spPr>
        <p:txBody>
          <a:bodyPr wrap="square" lIns="0" rIns="0" tIns="0" bIns="0" anchor="t">
            <a:spAutoFit/>
          </a:bodyPr>
          <a:lstStyle/>
          <a:p>
            <a:pPr algn="l"/>
            <a:r>
              <a:rPr sz="1700" b="1" i="0">
                <a:solidFill>
                  <a:srgbClr val="6E9887"/>
                </a:solidFill>
                <a:latin typeface="Liberation Sans"/>
              </a:rPr>
              <a:t>Sonuç: komşu veriye erişmek neredeyse bedava, uzağa atlamak pahalı.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Aynı iş, on kat fark</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İki döngü, aynı sayıda toplama</a:t>
            </a:r>
          </a:p>
        </p:txBody>
      </p:sp>
      <p:sp>
        <p:nvSpPr>
          <p:cNvPr id="5" name="Rounded Rectangle 4"/>
          <p:cNvSpPr/>
          <p:nvPr/>
        </p:nvSpPr>
        <p:spPr>
          <a:xfrm>
            <a:off x="822960" y="1965960"/>
            <a:ext cx="10515600" cy="3474720"/>
          </a:xfrm>
          <a:prstGeom prst="roundRect">
            <a:avLst/>
          </a:prstGeom>
          <a:solidFill>
            <a:srgbClr val="141A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67128"/>
            <a:ext cx="10058400" cy="3108960"/>
          </a:xfrm>
          <a:prstGeom prst="rect">
            <a:avLst/>
          </a:prstGeom>
          <a:noFill/>
        </p:spPr>
        <p:txBody>
          <a:bodyPr wrap="square" lIns="0" rIns="0" tIns="0" bIns="0" anchor="t">
            <a:spAutoFit/>
          </a:bodyPr>
          <a:lstStyle/>
          <a:p>
            <a:pPr algn="l">
              <a:lnSpc>
                <a:spcPct val="125000"/>
              </a:lnSpc>
            </a:pPr>
            <a:r>
              <a:rPr sz="1400" b="0" i="0">
                <a:solidFill>
                  <a:srgbClr val="EDEFF1"/>
                </a:solidFill>
                <a:latin typeface="Liberation Mono"/>
              </a:rPr>
              <a:t>// (a) satir satir - HIZLI</a:t>
            </a:r>
          </a:p>
          <a:p>
            <a:pPr algn="l">
              <a:lnSpc>
                <a:spcPct val="125000"/>
              </a:lnSpc>
            </a:pPr>
            <a:r>
              <a:rPr sz="1400" b="0" i="0">
                <a:solidFill>
                  <a:srgbClr val="EDEFF1"/>
                </a:solidFill>
                <a:latin typeface="Liberation Mono"/>
              </a:rPr>
              <a:t>for i in 0..n {</a:t>
            </a:r>
          </a:p>
          <a:p>
            <a:pPr algn="l">
              <a:lnSpc>
                <a:spcPct val="125000"/>
              </a:lnSpc>
            </a:pPr>
            <a:r>
              <a:rPr sz="1400" b="0" i="0">
                <a:solidFill>
                  <a:srgbClr val="EDEFF1"/>
                </a:solidFill>
                <a:latin typeface="Liberation Mono"/>
              </a:rPr>
              <a:t>    for j in 0..n { toplam += m[i][j]; }   // komsu adresler</a:t>
            </a:r>
          </a:p>
          <a:p>
            <a:pPr algn="l">
              <a:lnSpc>
                <a:spcPct val="125000"/>
              </a:lnSpc>
            </a:pPr>
            <a:r>
              <a:rPr sz="1400" b="0" i="0">
                <a:solidFill>
                  <a:srgbClr val="EDEFF1"/>
                </a:solidFill>
                <a:latin typeface="Liberation Mono"/>
              </a:rPr>
              <a:t>}</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 (b) sutun sutun - YAVAS</a:t>
            </a:r>
          </a:p>
          <a:p>
            <a:pPr algn="l">
              <a:lnSpc>
                <a:spcPct val="125000"/>
              </a:lnSpc>
            </a:pPr>
            <a:r>
              <a:rPr sz="1400" b="0" i="0">
                <a:solidFill>
                  <a:srgbClr val="EDEFF1"/>
                </a:solidFill>
                <a:latin typeface="Liberation Mono"/>
              </a:rPr>
              <a:t>for j in 0..n {</a:t>
            </a:r>
          </a:p>
          <a:p>
            <a:pPr algn="l">
              <a:lnSpc>
                <a:spcPct val="125000"/>
              </a:lnSpc>
            </a:pPr>
            <a:r>
              <a:rPr sz="1400" b="0" i="0">
                <a:solidFill>
                  <a:srgbClr val="EDEFF1"/>
                </a:solidFill>
                <a:latin typeface="Liberation Mono"/>
              </a:rPr>
              <a:t>    for i in 0..n { toplam += m[i][j]; }   // her adimda n*4 byte atla</a:t>
            </a:r>
          </a:p>
          <a:p>
            <a:pPr algn="l">
              <a:lnSpc>
                <a:spcPct val="125000"/>
              </a:lnSpc>
            </a:pPr>
            <a:r>
              <a:rPr sz="1400" b="0" i="0">
                <a:solidFill>
                  <a:srgbClr val="EDEFF1"/>
                </a:solidFill>
                <a:latin typeface="Liberation Mono"/>
              </a:rPr>
              <a:t>}</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Ayni islem sayisi. Buyuk matriste (b) 5-10 kat yavas.</a:t>
            </a:r>
          </a:p>
        </p:txBody>
      </p:sp>
      <p:sp>
        <p:nvSpPr>
          <p:cNvPr id="7" name="TextBox 6"/>
          <p:cNvSpPr txBox="1"/>
          <p:nvPr/>
        </p:nvSpPr>
        <p:spPr>
          <a:xfrm>
            <a:off x="822960" y="5714999"/>
            <a:ext cx="10515600" cy="822960"/>
          </a:xfrm>
          <a:prstGeom prst="rect">
            <a:avLst/>
          </a:prstGeom>
          <a:noFill/>
        </p:spPr>
        <p:txBody>
          <a:bodyPr wrap="square" lIns="0" rIns="0" tIns="0" bIns="0" anchor="t">
            <a:spAutoFit/>
          </a:bodyPr>
          <a:lstStyle/>
          <a:p>
            <a:pPr algn="l"/>
            <a:r>
              <a:rPr sz="1700" b="1" i="0">
                <a:solidFill>
                  <a:srgbClr val="C1441E"/>
                </a:solidFill>
                <a:latin typeface="Liberation Sans"/>
              </a:rPr>
              <a:t>Algoritma aynı, BigO aynı. Fark tamamen bellek erişim düzeninde.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828800"/>
          </a:xfrm>
          <a:prstGeom prst="rect">
            <a:avLst/>
          </a:prstGeom>
          <a:noFill/>
        </p:spPr>
        <p:txBody>
          <a:bodyPr wrap="square" lIns="0" rIns="0" tIns="0" bIns="0" anchor="ctr">
            <a:spAutoFit/>
          </a:bodyPr>
          <a:lstStyle/>
          <a:p>
            <a:pPr algn="ctr">
              <a:lnSpc>
                <a:spcPct val="120000"/>
              </a:lnSpc>
            </a:pPr>
            <a:r>
              <a:rPr sz="4000" b="1" i="0">
                <a:solidFill>
                  <a:srgbClr val="EDEFF1"/>
                </a:solidFill>
                <a:latin typeface="Liberation Serif"/>
              </a:rPr>
              <a:t>Şimdi çok çekirdek.</a:t>
            </a:r>
          </a:p>
        </p:txBody>
      </p:sp>
      <p:sp>
        <p:nvSpPr>
          <p:cNvPr id="4" name="TextBox 3"/>
          <p:cNvSpPr txBox="1"/>
          <p:nvPr/>
        </p:nvSpPr>
        <p:spPr>
          <a:xfrm>
            <a:off x="1463040" y="4069080"/>
            <a:ext cx="9235440" cy="1005840"/>
          </a:xfrm>
          <a:prstGeom prst="rect">
            <a:avLst/>
          </a:prstGeom>
          <a:noFill/>
        </p:spPr>
        <p:txBody>
          <a:bodyPr wrap="square" lIns="0" rIns="0" tIns="0" bIns="0" anchor="t">
            <a:spAutoFit/>
          </a:bodyPr>
          <a:lstStyle/>
          <a:p>
            <a:pPr algn="ctr">
              <a:lnSpc>
                <a:spcPct val="130000"/>
              </a:lnSpc>
            </a:pPr>
            <a:r>
              <a:rPr sz="1700" b="0" i="0">
                <a:solidFill>
                  <a:srgbClr val="93A1A9"/>
                </a:solidFill>
                <a:latin typeface="Liberation Sans"/>
              </a:rPr>
              <a:t>Her çekirdeğin KENDİ L1'i var.</a:t>
            </a:r>
          </a:p>
          <a:p>
            <a:pPr algn="ctr">
              <a:lnSpc>
                <a:spcPct val="130000"/>
              </a:lnSpc>
            </a:pPr>
            <a:r>
              <a:rPr sz="1700" b="0" i="0">
                <a:solidFill>
                  <a:srgbClr val="93A1A9"/>
                </a:solidFill>
                <a:latin typeface="Liberation Sans"/>
              </a:rPr>
              <a:t>Yani aynı verinin birden çok kopyası dolaşıyor.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Cache tutarlılığı ve false sharing</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Paylaşmadığınızı sandığınız şeyi paylaşmak</a:t>
            </a:r>
          </a:p>
        </p:txBody>
      </p:sp>
      <p:sp>
        <p:nvSpPr>
          <p:cNvPr id="5" name="Rounded Rectangle 4"/>
          <p:cNvSpPr/>
          <p:nvPr/>
        </p:nvSpPr>
        <p:spPr>
          <a:xfrm>
            <a:off x="822960" y="1965960"/>
            <a:ext cx="10515600" cy="2926079"/>
          </a:xfrm>
          <a:prstGeom prst="roundRect">
            <a:avLst/>
          </a:prstGeom>
          <a:solidFill>
            <a:srgbClr val="141A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67128"/>
            <a:ext cx="10058400" cy="2560320"/>
          </a:xfrm>
          <a:prstGeom prst="rect">
            <a:avLst/>
          </a:prstGeom>
          <a:noFill/>
        </p:spPr>
        <p:txBody>
          <a:bodyPr wrap="square" lIns="0" rIns="0" tIns="0" bIns="0" anchor="t">
            <a:spAutoFit/>
          </a:bodyPr>
          <a:lstStyle/>
          <a:p>
            <a:pPr algn="l">
              <a:lnSpc>
                <a:spcPct val="125000"/>
              </a:lnSpc>
            </a:pPr>
            <a:r>
              <a:rPr sz="1400" b="0" i="0">
                <a:solidFill>
                  <a:srgbClr val="EDEFF1"/>
                </a:solidFill>
                <a:latin typeface="Liberation Mono"/>
              </a:rPr>
              <a:t>struct Sayac { a: u64, b: u64 }   // 16 byte -&gt; AYNI cache satirinda</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  thread 1:  sayac.a += 1        (cekirdek 0)</a:t>
            </a:r>
          </a:p>
          <a:p>
            <a:pPr algn="l">
              <a:lnSpc>
                <a:spcPct val="125000"/>
              </a:lnSpc>
            </a:pPr>
            <a:r>
              <a:rPr sz="1400" b="0" i="0">
                <a:solidFill>
                  <a:srgbClr val="EDEFF1"/>
                </a:solidFill>
                <a:latin typeface="Liberation Mono"/>
              </a:rPr>
              <a:t>  thread 2:  sayac.b += 1        (cekirdek 1)</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Mantiken tamamen bagimsiz. Donanimda degil:</a:t>
            </a:r>
          </a:p>
          <a:p>
            <a:pPr algn="l">
              <a:lnSpc>
                <a:spcPct val="125000"/>
              </a:lnSpc>
            </a:pPr>
            <a:r>
              <a:rPr sz="1400" b="0" i="0">
                <a:solidFill>
                  <a:srgbClr val="EDEFF1"/>
                </a:solidFill>
                <a:latin typeface="Liberation Mono"/>
              </a:rPr>
              <a:t>ayni 64 byte'lik satir iki cekirdek arasinda surekli gidip geliyor.</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Tek thread'den bile YAVAS calisabilir.</a:t>
            </a:r>
          </a:p>
        </p:txBody>
      </p:sp>
      <p:sp>
        <p:nvSpPr>
          <p:cNvPr id="7" name="TextBox 6"/>
          <p:cNvSpPr txBox="1"/>
          <p:nvPr/>
        </p:nvSpPr>
        <p:spPr>
          <a:xfrm>
            <a:off x="822960" y="5166359"/>
            <a:ext cx="10515600" cy="822960"/>
          </a:xfrm>
          <a:prstGeom prst="rect">
            <a:avLst/>
          </a:prstGeom>
          <a:noFill/>
        </p:spPr>
        <p:txBody>
          <a:bodyPr wrap="square" lIns="0" rIns="0" tIns="0" bIns="0" anchor="t">
            <a:spAutoFit/>
          </a:bodyPr>
          <a:lstStyle/>
          <a:p>
            <a:pPr algn="l"/>
            <a:r>
              <a:rPr sz="1700" b="1" i="0">
                <a:solidFill>
                  <a:srgbClr val="D9A441"/>
                </a:solidFill>
                <a:latin typeface="Liberation Sans"/>
              </a:rPr>
              <a:t>Çözüm: aralarına dolgu koyup ayrı cache satırlarına düşürmek.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Veri yarışı donanımda ne demek?</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x += 1 tek bir işlem değil</a:t>
            </a:r>
          </a:p>
        </p:txBody>
      </p:sp>
      <p:sp>
        <p:nvSpPr>
          <p:cNvPr id="5" name="Rounded Rectangle 4"/>
          <p:cNvSpPr/>
          <p:nvPr/>
        </p:nvSpPr>
        <p:spPr>
          <a:xfrm>
            <a:off x="822960" y="1965960"/>
            <a:ext cx="10515600" cy="3474720"/>
          </a:xfrm>
          <a:prstGeom prst="roundRect">
            <a:avLst/>
          </a:prstGeom>
          <a:solidFill>
            <a:srgbClr val="141A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67128"/>
            <a:ext cx="10058400" cy="3108960"/>
          </a:xfrm>
          <a:prstGeom prst="rect">
            <a:avLst/>
          </a:prstGeom>
          <a:noFill/>
        </p:spPr>
        <p:txBody>
          <a:bodyPr wrap="square" lIns="0" rIns="0" tIns="0" bIns="0" anchor="t">
            <a:spAutoFit/>
          </a:bodyPr>
          <a:lstStyle/>
          <a:p>
            <a:pPr algn="l">
              <a:lnSpc>
                <a:spcPct val="125000"/>
              </a:lnSpc>
            </a:pPr>
            <a:r>
              <a:rPr sz="1400" b="0" i="0">
                <a:solidFill>
                  <a:srgbClr val="EDEFF1"/>
                </a:solidFill>
                <a:latin typeface="Liberation Mono"/>
              </a:rPr>
              <a:t>sayac += 1   aslinda uc adim:</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    1. oku      (load)</a:t>
            </a:r>
          </a:p>
          <a:p>
            <a:pPr algn="l">
              <a:lnSpc>
                <a:spcPct val="125000"/>
              </a:lnSpc>
            </a:pPr>
            <a:r>
              <a:rPr sz="1400" b="0" i="0">
                <a:solidFill>
                  <a:srgbClr val="EDEFF1"/>
                </a:solidFill>
                <a:latin typeface="Liberation Mono"/>
              </a:rPr>
              <a:t>    2. arttir   (add)</a:t>
            </a:r>
          </a:p>
          <a:p>
            <a:pPr algn="l">
              <a:lnSpc>
                <a:spcPct val="125000"/>
              </a:lnSpc>
            </a:pPr>
            <a:r>
              <a:rPr sz="1400" b="0" i="0">
                <a:solidFill>
                  <a:srgbClr val="EDEFF1"/>
                </a:solidFill>
                <a:latin typeface="Liberation Mono"/>
              </a:rPr>
              <a:t>    3. yaz      (store)</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  cekirdek 0        cekirdek 1</a:t>
            </a:r>
          </a:p>
          <a:p>
            <a:pPr algn="l">
              <a:lnSpc>
                <a:spcPct val="125000"/>
              </a:lnSpc>
            </a:pPr>
            <a:r>
              <a:rPr sz="1400" b="0" i="0">
                <a:solidFill>
                  <a:srgbClr val="EDEFF1"/>
                </a:solidFill>
                <a:latin typeface="Liberation Mono"/>
              </a:rPr>
              <a:t>  oku   -&gt; 5</a:t>
            </a:r>
          </a:p>
          <a:p>
            <a:pPr algn="l">
              <a:lnSpc>
                <a:spcPct val="125000"/>
              </a:lnSpc>
            </a:pPr>
            <a:r>
              <a:rPr sz="1400" b="0" i="0">
                <a:solidFill>
                  <a:srgbClr val="EDEFF1"/>
                </a:solidFill>
                <a:latin typeface="Liberation Mono"/>
              </a:rPr>
              <a:t>                    oku   -&gt; 5</a:t>
            </a:r>
          </a:p>
          <a:p>
            <a:pPr algn="l">
              <a:lnSpc>
                <a:spcPct val="125000"/>
              </a:lnSpc>
            </a:pPr>
            <a:r>
              <a:rPr sz="1400" b="0" i="0">
                <a:solidFill>
                  <a:srgbClr val="EDEFF1"/>
                </a:solidFill>
                <a:latin typeface="Liberation Mono"/>
              </a:rPr>
              <a:t>  arttir -&gt; 6</a:t>
            </a:r>
          </a:p>
          <a:p>
            <a:pPr algn="l">
              <a:lnSpc>
                <a:spcPct val="125000"/>
              </a:lnSpc>
            </a:pPr>
            <a:r>
              <a:rPr sz="1400" b="0" i="0">
                <a:solidFill>
                  <a:srgbClr val="EDEFF1"/>
                </a:solidFill>
                <a:latin typeface="Liberation Mono"/>
              </a:rPr>
              <a:t>                    arttir -&gt; 6</a:t>
            </a:r>
          </a:p>
          <a:p>
            <a:pPr algn="l">
              <a:lnSpc>
                <a:spcPct val="125000"/>
              </a:lnSpc>
            </a:pPr>
            <a:r>
              <a:rPr sz="1400" b="0" i="0">
                <a:solidFill>
                  <a:srgbClr val="EDEFF1"/>
                </a:solidFill>
                <a:latin typeface="Liberation Mono"/>
              </a:rPr>
              <a:t>  yaz   -&gt; 6</a:t>
            </a:r>
          </a:p>
          <a:p>
            <a:pPr algn="l">
              <a:lnSpc>
                <a:spcPct val="125000"/>
              </a:lnSpc>
            </a:pPr>
            <a:r>
              <a:rPr sz="1400" b="0" i="0">
                <a:solidFill>
                  <a:srgbClr val="EDEFF1"/>
                </a:solidFill>
                <a:latin typeface="Liberation Mono"/>
              </a:rPr>
              <a:t>                    yaz   -&gt; 6      &lt;-- iki artis, sonuc 6</a:t>
            </a:r>
          </a:p>
          <a:p>
            <a:pPr algn="l">
              <a:lnSpc>
                <a:spcPct val="125000"/>
              </a:lnSpc>
            </a:pPr>
            <a:r>
              <a:rPr sz="1400" b="0" i="0">
                <a:solidFill>
                  <a:srgbClr val="EDEFF1"/>
                </a:solidFill>
                <a:latin typeface="Liberation Mono"/>
              </a:rPr>
              <a:t/>
            </a:r>
          </a:p>
          <a:p>
            <a:pPr algn="l">
              <a:lnSpc>
                <a:spcPct val="125000"/>
              </a:lnSpc>
            </a:pPr>
            <a:r>
              <a:rPr sz="1400" b="0" i="0">
                <a:solidFill>
                  <a:srgbClr val="EDEFF1"/>
                </a:solidFill>
                <a:latin typeface="Liberation Mono"/>
              </a:rPr>
              <a:t>Bir artis kayboldu. Her calistirmada olmaz - iste sorun bu.</a:t>
            </a:r>
          </a:p>
        </p:txBody>
      </p:sp>
      <p:sp>
        <p:nvSpPr>
          <p:cNvPr id="7" name="TextBox 6"/>
          <p:cNvSpPr txBox="1"/>
          <p:nvPr/>
        </p:nvSpPr>
        <p:spPr>
          <a:xfrm>
            <a:off x="822960" y="5714999"/>
            <a:ext cx="10515600" cy="822960"/>
          </a:xfrm>
          <a:prstGeom prst="rect">
            <a:avLst/>
          </a:prstGeom>
          <a:noFill/>
        </p:spPr>
        <p:txBody>
          <a:bodyPr wrap="square" lIns="0" rIns="0" tIns="0" bIns="0" anchor="t">
            <a:spAutoFit/>
          </a:bodyPr>
          <a:lstStyle/>
          <a:p>
            <a:pPr algn="l"/>
            <a:r>
              <a:rPr sz="1700" b="1" i="0">
                <a:solidFill>
                  <a:srgbClr val="C1441E"/>
                </a:solidFill>
                <a:latin typeface="Liberation Sans"/>
              </a:rPr>
              <a:t>Tekrarlanamayan hata: testlerde geçer, üretimde patlar.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İki büyük yaklaşım</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İkisi de Rust'ta var — yarın ikisini de kullanacaksınız</a:t>
            </a:r>
          </a:p>
        </p:txBody>
      </p:sp>
      <p:sp>
        <p:nvSpPr>
          <p:cNvPr id="5" name="Rounded Rectangle 4"/>
          <p:cNvSpPr/>
          <p:nvPr/>
        </p:nvSpPr>
        <p:spPr>
          <a:xfrm>
            <a:off x="822960" y="1965960"/>
            <a:ext cx="4983480" cy="3520440"/>
          </a:xfrm>
          <a:prstGeom prst="roundRect">
            <a:avLst/>
          </a:prstGeom>
          <a:solidFill>
            <a:srgbClr val="2A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58568"/>
            <a:ext cx="4297680" cy="502920"/>
          </a:xfrm>
          <a:prstGeom prst="rect">
            <a:avLst/>
          </a:prstGeom>
          <a:noFill/>
        </p:spPr>
        <p:txBody>
          <a:bodyPr wrap="square" lIns="0" rIns="0" tIns="0" bIns="0" anchor="t">
            <a:spAutoFit/>
          </a:bodyPr>
          <a:lstStyle/>
          <a:p>
            <a:pPr algn="l"/>
            <a:r>
              <a:rPr sz="2100" b="1" i="0">
                <a:solidFill>
                  <a:srgbClr val="C1441E"/>
                </a:solidFill>
                <a:latin typeface="Liberation Serif"/>
              </a:rPr>
              <a:t>Paylaşımlı bellek</a:t>
            </a:r>
          </a:p>
        </p:txBody>
      </p:sp>
      <p:sp>
        <p:nvSpPr>
          <p:cNvPr id="7" name="TextBox 6"/>
          <p:cNvSpPr txBox="1"/>
          <p:nvPr/>
        </p:nvSpPr>
        <p:spPr>
          <a:xfrm>
            <a:off x="1188720" y="2926080"/>
            <a:ext cx="4297680" cy="2377440"/>
          </a:xfrm>
          <a:prstGeom prst="rect">
            <a:avLst/>
          </a:prstGeom>
          <a:noFill/>
        </p:spPr>
        <p:txBody>
          <a:bodyPr wrap="square" lIns="0" rIns="0" tIns="0" bIns="0" anchor="t">
            <a:spAutoFit/>
          </a:bodyPr>
          <a:lstStyle/>
          <a:p>
            <a:pPr algn="l">
              <a:lnSpc>
                <a:spcPct val="130000"/>
              </a:lnSpc>
              <a:spcAft>
                <a:spcPts val="900"/>
              </a:spcAft>
            </a:pPr>
            <a:r>
              <a:rPr sz="1500" b="0" i="0">
                <a:solidFill>
                  <a:srgbClr val="EDEFF1"/>
                </a:solidFill>
                <a:latin typeface="Liberation Sans"/>
              </a:rPr>
              <a:t>▪  Aynı veriye birden çok thread erişir</a:t>
            </a:r>
          </a:p>
          <a:p>
            <a:pPr algn="l">
              <a:lnSpc>
                <a:spcPct val="130000"/>
              </a:lnSpc>
              <a:spcAft>
                <a:spcPts val="900"/>
              </a:spcAft>
            </a:pPr>
            <a:r>
              <a:rPr sz="1500" b="0" i="0">
                <a:solidFill>
                  <a:srgbClr val="EDEFF1"/>
                </a:solidFill>
                <a:latin typeface="Liberation Sans"/>
              </a:rPr>
              <a:t>▪  Kilit (Mutex) ile sıraya sokulur</a:t>
            </a:r>
          </a:p>
          <a:p>
            <a:pPr algn="l">
              <a:lnSpc>
                <a:spcPct val="130000"/>
              </a:lnSpc>
              <a:spcAft>
                <a:spcPts val="900"/>
              </a:spcAft>
            </a:pPr>
            <a:r>
              <a:rPr sz="1500" b="0" i="0">
                <a:solidFill>
                  <a:srgbClr val="EDEFF1"/>
                </a:solidFill>
                <a:latin typeface="Liberation Sans"/>
              </a:rPr>
              <a:t>▪  Hızlı — kopyalama yok</a:t>
            </a:r>
          </a:p>
          <a:p>
            <a:pPr algn="l">
              <a:lnSpc>
                <a:spcPct val="130000"/>
              </a:lnSpc>
              <a:spcAft>
                <a:spcPts val="900"/>
              </a:spcAft>
            </a:pPr>
            <a:r>
              <a:rPr sz="1500" b="0" i="0">
                <a:solidFill>
                  <a:srgbClr val="EDEFF1"/>
                </a:solidFill>
                <a:latin typeface="Liberation Sans"/>
              </a:rPr>
              <a:t>▪  Riskler: kilitlenme, unutulan kilit, false sharing</a:t>
            </a:r>
          </a:p>
          <a:p>
            <a:pPr algn="l">
              <a:lnSpc>
                <a:spcPct val="130000"/>
              </a:lnSpc>
              <a:spcAft>
                <a:spcPts val="900"/>
              </a:spcAft>
            </a:pPr>
            <a:r>
              <a:rPr sz="1500" b="0" i="0">
                <a:solidFill>
                  <a:srgbClr val="EDEFF1"/>
                </a:solidFill>
                <a:latin typeface="Liberation Sans"/>
              </a:rPr>
              <a:t>▪  Rust: Arc&lt;Mutex&lt;T&gt;&gt;, RwLock</a:t>
            </a:r>
          </a:p>
        </p:txBody>
      </p:sp>
      <p:sp>
        <p:nvSpPr>
          <p:cNvPr id="8" name="Rounded Rectangle 7"/>
          <p:cNvSpPr/>
          <p:nvPr/>
        </p:nvSpPr>
        <p:spPr>
          <a:xfrm>
            <a:off x="6400800" y="1965960"/>
            <a:ext cx="4983480" cy="3520440"/>
          </a:xfrm>
          <a:prstGeom prst="roundRect">
            <a:avLst/>
          </a:prstGeom>
          <a:solidFill>
            <a:srgbClr val="2A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2258568"/>
            <a:ext cx="4297680" cy="502920"/>
          </a:xfrm>
          <a:prstGeom prst="rect">
            <a:avLst/>
          </a:prstGeom>
          <a:noFill/>
        </p:spPr>
        <p:txBody>
          <a:bodyPr wrap="square" lIns="0" rIns="0" tIns="0" bIns="0" anchor="t">
            <a:spAutoFit/>
          </a:bodyPr>
          <a:lstStyle/>
          <a:p>
            <a:pPr algn="l"/>
            <a:r>
              <a:rPr sz="2100" b="1" i="0">
                <a:solidFill>
                  <a:srgbClr val="6E9887"/>
                </a:solidFill>
                <a:latin typeface="Liberation Serif"/>
              </a:rPr>
              <a:t>Mesajlaşma</a:t>
            </a:r>
          </a:p>
        </p:txBody>
      </p:sp>
      <p:sp>
        <p:nvSpPr>
          <p:cNvPr id="10" name="TextBox 9"/>
          <p:cNvSpPr txBox="1"/>
          <p:nvPr/>
        </p:nvSpPr>
        <p:spPr>
          <a:xfrm>
            <a:off x="6766560" y="2926080"/>
            <a:ext cx="4297680" cy="2377440"/>
          </a:xfrm>
          <a:prstGeom prst="rect">
            <a:avLst/>
          </a:prstGeom>
          <a:noFill/>
        </p:spPr>
        <p:txBody>
          <a:bodyPr wrap="square" lIns="0" rIns="0" tIns="0" bIns="0" anchor="t">
            <a:spAutoFit/>
          </a:bodyPr>
          <a:lstStyle/>
          <a:p>
            <a:pPr algn="l">
              <a:lnSpc>
                <a:spcPct val="130000"/>
              </a:lnSpc>
              <a:spcAft>
                <a:spcPts val="900"/>
              </a:spcAft>
            </a:pPr>
            <a:r>
              <a:rPr sz="1500" b="0" i="0">
                <a:solidFill>
                  <a:srgbClr val="EDEFF1"/>
                </a:solidFill>
                <a:latin typeface="Liberation Sans"/>
              </a:rPr>
              <a:t>▪  Veri paylaşılmaz, sahiplik devredilir</a:t>
            </a:r>
          </a:p>
          <a:p>
            <a:pPr algn="l">
              <a:lnSpc>
                <a:spcPct val="130000"/>
              </a:lnSpc>
              <a:spcAft>
                <a:spcPts val="900"/>
              </a:spcAft>
            </a:pPr>
            <a:r>
              <a:rPr sz="1500" b="0" i="0">
                <a:solidFill>
                  <a:srgbClr val="EDEFF1"/>
                </a:solidFill>
                <a:latin typeface="Liberation Sans"/>
              </a:rPr>
              <a:t>▪  Kanal üzerinden gönderilir</a:t>
            </a:r>
          </a:p>
          <a:p>
            <a:pPr algn="l">
              <a:lnSpc>
                <a:spcPct val="130000"/>
              </a:lnSpc>
              <a:spcAft>
                <a:spcPts val="900"/>
              </a:spcAft>
            </a:pPr>
            <a:r>
              <a:rPr sz="1500" b="0" i="0">
                <a:solidFill>
                  <a:srgbClr val="EDEFF1"/>
                </a:solidFill>
                <a:latin typeface="Liberation Sans"/>
              </a:rPr>
              <a:t>▪  Akıl yürütmesi çok daha kolay</a:t>
            </a:r>
          </a:p>
          <a:p>
            <a:pPr algn="l">
              <a:lnSpc>
                <a:spcPct val="130000"/>
              </a:lnSpc>
              <a:spcAft>
                <a:spcPts val="900"/>
              </a:spcAft>
            </a:pPr>
            <a:r>
              <a:rPr sz="1500" b="0" i="0">
                <a:solidFill>
                  <a:srgbClr val="EDEFF1"/>
                </a:solidFill>
                <a:latin typeface="Liberation Sans"/>
              </a:rPr>
              <a:t>▪  Bedeli: kopyalama ve kanal maliyeti</a:t>
            </a:r>
          </a:p>
          <a:p>
            <a:pPr algn="l">
              <a:lnSpc>
                <a:spcPct val="130000"/>
              </a:lnSpc>
              <a:spcAft>
                <a:spcPts val="900"/>
              </a:spcAft>
            </a:pPr>
            <a:r>
              <a:rPr sz="1500" b="0" i="0">
                <a:solidFill>
                  <a:srgbClr val="EDEFF1"/>
                </a:solidFill>
                <a:latin typeface="Liberation Sans"/>
              </a:rPr>
              <a:t>▪  Rust: mpsc kanalları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868680"/>
          </a:xfrm>
          <a:prstGeom prst="rect">
            <a:avLst/>
          </a:prstGeom>
          <a:noFill/>
        </p:spPr>
        <p:txBody>
          <a:bodyPr wrap="square" lIns="0" rIns="0" tIns="0" bIns="0" anchor="t">
            <a:spAutoFit/>
          </a:bodyPr>
          <a:lstStyle/>
          <a:p>
            <a:pPr algn="l"/>
            <a:r>
              <a:rPr sz="3600" b="1" i="0">
                <a:solidFill>
                  <a:srgbClr val="EDEFF1"/>
                </a:solidFill>
                <a:latin typeface="Liberation Serif"/>
              </a:rPr>
              <a:t>Rust'ın cevabı</a:t>
            </a:r>
          </a:p>
        </p:txBody>
      </p:sp>
      <p:sp>
        <p:nvSpPr>
          <p:cNvPr id="4" name="TextBox 3"/>
          <p:cNvSpPr txBox="1"/>
          <p:nvPr/>
        </p:nvSpPr>
        <p:spPr>
          <a:xfrm>
            <a:off x="640080" y="1298448"/>
            <a:ext cx="10881360" cy="411480"/>
          </a:xfrm>
          <a:prstGeom prst="rect">
            <a:avLst/>
          </a:prstGeom>
          <a:noFill/>
        </p:spPr>
        <p:txBody>
          <a:bodyPr wrap="square" lIns="0" rIns="0" tIns="0" bIns="0" anchor="t">
            <a:spAutoFit/>
          </a:bodyPr>
          <a:lstStyle/>
          <a:p>
            <a:pPr algn="l"/>
            <a:r>
              <a:rPr sz="1500" b="0" i="0">
                <a:solidFill>
                  <a:srgbClr val="93A1A9"/>
                </a:solidFill>
                <a:latin typeface="Liberation Sans"/>
              </a:rPr>
              <a:t>Veri yarışı bir çalışma zamanı sorunu değil, tip sorunu</a:t>
            </a:r>
          </a:p>
        </p:txBody>
      </p:sp>
      <p:sp>
        <p:nvSpPr>
          <p:cNvPr id="5" name="Oval 4"/>
          <p:cNvSpPr/>
          <p:nvPr/>
        </p:nvSpPr>
        <p:spPr>
          <a:xfrm>
            <a:off x="822960" y="2029968"/>
            <a:ext cx="420624" cy="420624"/>
          </a:xfrm>
          <a:prstGeom prst="ellipse">
            <a:avLst/>
          </a:prstGeom>
          <a:solidFill>
            <a:srgbClr val="C14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93976"/>
            <a:ext cx="420624" cy="420624"/>
          </a:xfrm>
          <a:prstGeom prst="rect">
            <a:avLst/>
          </a:prstGeom>
          <a:noFill/>
        </p:spPr>
        <p:txBody>
          <a:bodyPr wrap="square" lIns="0" rIns="0" tIns="0" bIns="0" anchor="t">
            <a:spAutoFit/>
          </a:bodyPr>
          <a:lstStyle/>
          <a:p>
            <a:pPr algn="ctr"/>
            <a:r>
              <a:rPr sz="1500" b="1" i="0">
                <a:solidFill>
                  <a:srgbClr val="EDEFF1"/>
                </a:solidFill>
                <a:latin typeface="Liberation Sans"/>
              </a:rPr>
              <a:t>1</a:t>
            </a:r>
          </a:p>
        </p:txBody>
      </p:sp>
      <p:sp>
        <p:nvSpPr>
          <p:cNvPr id="7" name="TextBox 6"/>
          <p:cNvSpPr txBox="1"/>
          <p:nvPr/>
        </p:nvSpPr>
        <p:spPr>
          <a:xfrm>
            <a:off x="1463040" y="2011680"/>
            <a:ext cx="9784080" cy="411480"/>
          </a:xfrm>
          <a:prstGeom prst="rect">
            <a:avLst/>
          </a:prstGeom>
          <a:noFill/>
        </p:spPr>
        <p:txBody>
          <a:bodyPr wrap="square" lIns="0" rIns="0" tIns="0" bIns="0" anchor="t">
            <a:spAutoFit/>
          </a:bodyPr>
          <a:lstStyle/>
          <a:p>
            <a:pPr algn="l"/>
            <a:r>
              <a:rPr sz="1800" b="1" i="0">
                <a:solidFill>
                  <a:srgbClr val="EDEFF1"/>
                </a:solidFill>
                <a:latin typeface="Liberation Serif"/>
              </a:rPr>
              <a:t>Ownership kuralı zaten yeterliydi</a:t>
            </a:r>
          </a:p>
        </p:txBody>
      </p:sp>
      <p:sp>
        <p:nvSpPr>
          <p:cNvPr id="8" name="TextBox 7"/>
          <p:cNvSpPr txBox="1"/>
          <p:nvPr/>
        </p:nvSpPr>
        <p:spPr>
          <a:xfrm>
            <a:off x="1463040" y="2395728"/>
            <a:ext cx="9784080" cy="384048"/>
          </a:xfrm>
          <a:prstGeom prst="rect">
            <a:avLst/>
          </a:prstGeom>
          <a:noFill/>
        </p:spPr>
        <p:txBody>
          <a:bodyPr wrap="square" lIns="0" rIns="0" tIns="0" bIns="0" anchor="t">
            <a:spAutoFit/>
          </a:bodyPr>
          <a:lstStyle/>
          <a:p>
            <a:pPr algn="l"/>
            <a:r>
              <a:rPr sz="1400" b="0" i="0">
                <a:solidFill>
                  <a:srgbClr val="93A1A9"/>
                </a:solidFill>
                <a:latin typeface="Liberation Sans"/>
              </a:rPr>
              <a:t>Ya çok okuyucu ya tek yazıcı — bu kural tek thread'de de, çok thread'de de aynı</a:t>
            </a:r>
          </a:p>
        </p:txBody>
      </p:sp>
      <p:sp>
        <p:nvSpPr>
          <p:cNvPr id="9" name="Oval 8"/>
          <p:cNvSpPr/>
          <p:nvPr/>
        </p:nvSpPr>
        <p:spPr>
          <a:xfrm>
            <a:off x="822960" y="2944368"/>
            <a:ext cx="420624" cy="420624"/>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008376"/>
            <a:ext cx="420624" cy="420624"/>
          </a:xfrm>
          <a:prstGeom prst="rect">
            <a:avLst/>
          </a:prstGeom>
          <a:noFill/>
        </p:spPr>
        <p:txBody>
          <a:bodyPr wrap="square" lIns="0" rIns="0" tIns="0" bIns="0" anchor="t">
            <a:spAutoFit/>
          </a:bodyPr>
          <a:lstStyle/>
          <a:p>
            <a:pPr algn="ctr"/>
            <a:r>
              <a:rPr sz="1500" b="1" i="0">
                <a:solidFill>
                  <a:srgbClr val="EDEFF1"/>
                </a:solidFill>
                <a:latin typeface="Liberation Sans"/>
              </a:rPr>
              <a:t>2</a:t>
            </a:r>
          </a:p>
        </p:txBody>
      </p:sp>
      <p:sp>
        <p:nvSpPr>
          <p:cNvPr id="11" name="TextBox 10"/>
          <p:cNvSpPr txBox="1"/>
          <p:nvPr/>
        </p:nvSpPr>
        <p:spPr>
          <a:xfrm>
            <a:off x="1463040" y="2926080"/>
            <a:ext cx="9784080" cy="411480"/>
          </a:xfrm>
          <a:prstGeom prst="rect">
            <a:avLst/>
          </a:prstGeom>
          <a:noFill/>
        </p:spPr>
        <p:txBody>
          <a:bodyPr wrap="square" lIns="0" rIns="0" tIns="0" bIns="0" anchor="t">
            <a:spAutoFit/>
          </a:bodyPr>
          <a:lstStyle/>
          <a:p>
            <a:pPr algn="l"/>
            <a:r>
              <a:rPr sz="1800" b="1" i="0">
                <a:solidFill>
                  <a:srgbClr val="EDEFF1"/>
                </a:solidFill>
                <a:latin typeface="Liberation Serif"/>
              </a:rPr>
              <a:t>Send: bu tip başka bir thread'e taşınabilir mi?</a:t>
            </a:r>
          </a:p>
        </p:txBody>
      </p:sp>
      <p:sp>
        <p:nvSpPr>
          <p:cNvPr id="12" name="TextBox 11"/>
          <p:cNvSpPr txBox="1"/>
          <p:nvPr/>
        </p:nvSpPr>
        <p:spPr>
          <a:xfrm>
            <a:off x="1463040" y="3310128"/>
            <a:ext cx="9784080" cy="384048"/>
          </a:xfrm>
          <a:prstGeom prst="rect">
            <a:avLst/>
          </a:prstGeom>
          <a:noFill/>
        </p:spPr>
        <p:txBody>
          <a:bodyPr wrap="square" lIns="0" rIns="0" tIns="0" bIns="0" anchor="t">
            <a:spAutoFit/>
          </a:bodyPr>
          <a:lstStyle/>
          <a:p>
            <a:pPr algn="l"/>
            <a:r>
              <a:rPr sz="1400" b="0" i="0">
                <a:solidFill>
                  <a:srgbClr val="93A1A9"/>
                </a:solidFill>
                <a:latin typeface="Liberation Sans"/>
              </a:rPr>
              <a:t>Derleyici otomatik çıkarıyor. Rc&lt;T&gt; Send değil, Arc&lt;T&gt; Send</a:t>
            </a:r>
          </a:p>
        </p:txBody>
      </p:sp>
      <p:sp>
        <p:nvSpPr>
          <p:cNvPr id="13" name="Oval 12"/>
          <p:cNvSpPr/>
          <p:nvPr/>
        </p:nvSpPr>
        <p:spPr>
          <a:xfrm>
            <a:off x="822960" y="3858768"/>
            <a:ext cx="420624" cy="420624"/>
          </a:xfrm>
          <a:prstGeom prst="ellipse">
            <a:avLst/>
          </a:prstGeom>
          <a:solidFill>
            <a:srgbClr val="C14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22776"/>
            <a:ext cx="420624" cy="420624"/>
          </a:xfrm>
          <a:prstGeom prst="rect">
            <a:avLst/>
          </a:prstGeom>
          <a:noFill/>
        </p:spPr>
        <p:txBody>
          <a:bodyPr wrap="square" lIns="0" rIns="0" tIns="0" bIns="0" anchor="t">
            <a:spAutoFit/>
          </a:bodyPr>
          <a:lstStyle/>
          <a:p>
            <a:pPr algn="ctr"/>
            <a:r>
              <a:rPr sz="1500" b="1" i="0">
                <a:solidFill>
                  <a:srgbClr val="EDEFF1"/>
                </a:solidFill>
                <a:latin typeface="Liberation Sans"/>
              </a:rPr>
              <a:t>3</a:t>
            </a:r>
          </a:p>
        </p:txBody>
      </p:sp>
      <p:sp>
        <p:nvSpPr>
          <p:cNvPr id="15" name="TextBox 14"/>
          <p:cNvSpPr txBox="1"/>
          <p:nvPr/>
        </p:nvSpPr>
        <p:spPr>
          <a:xfrm>
            <a:off x="1463040" y="3840480"/>
            <a:ext cx="9784080" cy="411480"/>
          </a:xfrm>
          <a:prstGeom prst="rect">
            <a:avLst/>
          </a:prstGeom>
          <a:noFill/>
        </p:spPr>
        <p:txBody>
          <a:bodyPr wrap="square" lIns="0" rIns="0" tIns="0" bIns="0" anchor="t">
            <a:spAutoFit/>
          </a:bodyPr>
          <a:lstStyle/>
          <a:p>
            <a:pPr algn="l"/>
            <a:r>
              <a:rPr sz="1800" b="1" i="0">
                <a:solidFill>
                  <a:srgbClr val="EDEFF1"/>
                </a:solidFill>
                <a:latin typeface="Liberation Serif"/>
              </a:rPr>
              <a:t>Sync: bu tipe iki thread aynı anda referansla bakabilir mi?</a:t>
            </a:r>
          </a:p>
        </p:txBody>
      </p:sp>
      <p:sp>
        <p:nvSpPr>
          <p:cNvPr id="16" name="TextBox 15"/>
          <p:cNvSpPr txBox="1"/>
          <p:nvPr/>
        </p:nvSpPr>
        <p:spPr>
          <a:xfrm>
            <a:off x="1463040" y="4224528"/>
            <a:ext cx="9784080" cy="384048"/>
          </a:xfrm>
          <a:prstGeom prst="rect">
            <a:avLst/>
          </a:prstGeom>
          <a:noFill/>
        </p:spPr>
        <p:txBody>
          <a:bodyPr wrap="square" lIns="0" rIns="0" tIns="0" bIns="0" anchor="t">
            <a:spAutoFit/>
          </a:bodyPr>
          <a:lstStyle/>
          <a:p>
            <a:pPr algn="l"/>
            <a:r>
              <a:rPr sz="1400" b="0" i="0">
                <a:solidFill>
                  <a:srgbClr val="93A1A9"/>
                </a:solidFill>
                <a:latin typeface="Liberation Sans"/>
              </a:rPr>
              <a:t>&amp;T'nin Send olması demek. Cell ve RefCell Sync değil</a:t>
            </a:r>
          </a:p>
        </p:txBody>
      </p:sp>
      <p:sp>
        <p:nvSpPr>
          <p:cNvPr id="17" name="Oval 16"/>
          <p:cNvSpPr/>
          <p:nvPr/>
        </p:nvSpPr>
        <p:spPr>
          <a:xfrm>
            <a:off x="822960" y="4773168"/>
            <a:ext cx="420624" cy="420624"/>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837176"/>
            <a:ext cx="420624" cy="420624"/>
          </a:xfrm>
          <a:prstGeom prst="rect">
            <a:avLst/>
          </a:prstGeom>
          <a:noFill/>
        </p:spPr>
        <p:txBody>
          <a:bodyPr wrap="square" lIns="0" rIns="0" tIns="0" bIns="0" anchor="t">
            <a:spAutoFit/>
          </a:bodyPr>
          <a:lstStyle/>
          <a:p>
            <a:pPr algn="ctr"/>
            <a:r>
              <a:rPr sz="1500" b="1" i="0">
                <a:solidFill>
                  <a:srgbClr val="EDEFF1"/>
                </a:solidFill>
                <a:latin typeface="Liberation Sans"/>
              </a:rPr>
              <a:t>4</a:t>
            </a:r>
          </a:p>
        </p:txBody>
      </p:sp>
      <p:sp>
        <p:nvSpPr>
          <p:cNvPr id="19" name="TextBox 18"/>
          <p:cNvSpPr txBox="1"/>
          <p:nvPr/>
        </p:nvSpPr>
        <p:spPr>
          <a:xfrm>
            <a:off x="1463040" y="4754880"/>
            <a:ext cx="9784080" cy="411480"/>
          </a:xfrm>
          <a:prstGeom prst="rect">
            <a:avLst/>
          </a:prstGeom>
          <a:noFill/>
        </p:spPr>
        <p:txBody>
          <a:bodyPr wrap="square" lIns="0" rIns="0" tIns="0" bIns="0" anchor="t">
            <a:spAutoFit/>
          </a:bodyPr>
          <a:lstStyle/>
          <a:p>
            <a:pPr algn="l"/>
            <a:r>
              <a:rPr sz="1800" b="1" i="0">
                <a:solidFill>
                  <a:srgbClr val="EDEFF1"/>
                </a:solidFill>
                <a:latin typeface="Liberation Serif"/>
              </a:rPr>
              <a:t>Sonuç: veri yarışı içeren kod DERLENMİYOR</a:t>
            </a:r>
          </a:p>
        </p:txBody>
      </p:sp>
      <p:sp>
        <p:nvSpPr>
          <p:cNvPr id="20" name="TextBox 19"/>
          <p:cNvSpPr txBox="1"/>
          <p:nvPr/>
        </p:nvSpPr>
        <p:spPr>
          <a:xfrm>
            <a:off x="1463040" y="5138928"/>
            <a:ext cx="9784080" cy="384048"/>
          </a:xfrm>
          <a:prstGeom prst="rect">
            <a:avLst/>
          </a:prstGeom>
          <a:noFill/>
        </p:spPr>
        <p:txBody>
          <a:bodyPr wrap="square" lIns="0" rIns="0" tIns="0" bIns="0" anchor="t">
            <a:spAutoFit/>
          </a:bodyPr>
          <a:lstStyle/>
          <a:p>
            <a:pPr algn="l"/>
            <a:r>
              <a:rPr sz="1400" b="0" i="0">
                <a:solidFill>
                  <a:srgbClr val="93A1A9"/>
                </a:solidFill>
                <a:latin typeface="Liberation Sans"/>
              </a:rPr>
              <a:t>Gün 2'de öğrendiğiniz kural, bugün bedava eşzamanlılık güvenliği veriyor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4297680"/>
            <a:ext cx="4206240" cy="4206240"/>
          </a:xfrm>
          <a:prstGeom prst="ellipse">
            <a:avLst/>
          </a:prstGeom>
          <a:solidFill>
            <a:srgbClr val="23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468880"/>
            <a:ext cx="9601200" cy="1097280"/>
          </a:xfrm>
          <a:prstGeom prst="rect">
            <a:avLst/>
          </a:prstGeom>
          <a:noFill/>
        </p:spPr>
        <p:txBody>
          <a:bodyPr wrap="square" lIns="0" rIns="0" tIns="0" bIns="0" anchor="t">
            <a:spAutoFit/>
          </a:bodyPr>
          <a:lstStyle/>
          <a:p>
            <a:pPr algn="ctr"/>
            <a:r>
              <a:rPr sz="4400" b="1" i="0">
                <a:solidFill>
                  <a:srgbClr val="EDEFF1"/>
                </a:solidFill>
                <a:latin typeface="Liberation Serif"/>
              </a:rPr>
              <a:t>Şimdi thread yazalım</a:t>
            </a:r>
          </a:p>
        </p:txBody>
      </p:sp>
      <p:sp>
        <p:nvSpPr>
          <p:cNvPr id="5" name="TextBox 4"/>
          <p:cNvSpPr txBox="1"/>
          <p:nvPr/>
        </p:nvSpPr>
        <p:spPr>
          <a:xfrm>
            <a:off x="1280160" y="3703320"/>
            <a:ext cx="9601200" cy="822960"/>
          </a:xfrm>
          <a:prstGeom prst="rect">
            <a:avLst/>
          </a:prstGeom>
          <a:noFill/>
        </p:spPr>
        <p:txBody>
          <a:bodyPr wrap="square" lIns="0" rIns="0" tIns="0" bIns="0" anchor="t">
            <a:spAutoFit/>
          </a:bodyPr>
          <a:lstStyle/>
          <a:p>
            <a:pPr algn="ctr">
              <a:lnSpc>
                <a:spcPct val="130000"/>
              </a:lnSpc>
            </a:pPr>
            <a:r>
              <a:rPr sz="1700" b="0" i="0">
                <a:solidFill>
                  <a:srgbClr val="93A1A9"/>
                </a:solidFill>
                <a:latin typeface="Liberation Sans"/>
              </a:rPr>
              <a:t>thread::spawn, move closure, thread::scope — ve neden move zorunlu</a:t>
            </a:r>
          </a:p>
          <a:p>
            <a:pPr algn="ctr">
              <a:lnSpc>
                <a:spcPct val="130000"/>
              </a:lnSpc>
            </a:pPr>
            <a:r>
              <a:rPr sz="1700" b="0" i="0">
                <a:solidFill>
                  <a:srgbClr val="93A1A9"/>
                </a:solidFill>
                <a:latin typeface="Liberation Sans"/>
              </a:rPr>
              <a:t>Yarın: Arc&lt;Mutex&gt;, kanallar, Send/Sync ve async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