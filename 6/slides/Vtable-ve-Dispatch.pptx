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54864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1441E"/>
                </a:solidFill>
                <a:latin typeface="Liberation Sans"/>
              </a:rPr>
              <a:t>GÜN 6 · EK SUNUM  ·  ~20 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DEFF1"/>
                </a:solidFill>
                <a:latin typeface="Liberation Serif"/>
              </a:rPr>
              <a:t>Statik ve Dinamik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3A1A9"/>
                </a:solidFill>
                <a:latin typeface="Liberation Sans"/>
              </a:rPr>
              <a:t>Aynı işi yapmanın iki yolu · C++ karşılığı · perde arkasında ne oluyor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Bu sunumda ne anlatılıyor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tek cümle: aynı işi yapmanın iki yolu var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09928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DEFF1"/>
                </a:solidFill>
                <a:latin typeface="Liberation Sans"/>
              </a:rPr>
              <a:t>Bir fonksiyonu farklı tiplerle çalıştırmanın iki yolu vardır.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76856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6712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E9887"/>
                </a:solidFill>
                <a:latin typeface="Liberation Sans"/>
              </a:rPr>
              <a:t>YOL 1 — derleyici hangi tip olduğunu derlerken bilir.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843784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34056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9A441"/>
                </a:solidFill>
                <a:latin typeface="Liberation Sans"/>
              </a:rPr>
              <a:t>YOL 2 — hangi tip olduğu ancak program çalışırken belli olur.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410712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009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DEFF1"/>
                </a:solidFill>
                <a:latin typeface="Liberation Sans"/>
              </a:rPr>
              <a:t>İkisi de aynı sonucu üretir; hız, boyut ve esneklik farklıdır.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977640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6791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DEFF1"/>
                </a:solidFill>
                <a:latin typeface="Liberation Sans"/>
              </a:rPr>
              <a:t>C++'ta bunların karşılığı: template ve virtual.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544568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3A1A9"/>
                </a:solidFill>
                <a:latin typeface="Liberation Sans"/>
              </a:rPr>
              <a:t>Sonda: perde arkasında bellekte ne oluyor.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Başlangıç: iki tip, tek davranış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ikisi de çizilebiliyor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3255264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trait Draw { fn draw(&amp;self);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struct Player { x: f32, y: f32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struct Enemy  { hp: i32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impl Draw for Player { ...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impl Draw for Enemy  { ...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// Bu ikisini cizen fonksiyonu NASIL yazariz?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38344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İki yolumuz var. Aradaki tek fark: tipin ne zaman belli olduğu.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441E"/>
                </a:solidFill>
                <a:latin typeface="Liberation Sans"/>
              </a:rPr>
              <a:t>YOL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EFF1"/>
                </a:solidFill>
                <a:latin typeface="Liberation Serif"/>
              </a:rPr>
              <a:t>Statik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3A1A9"/>
                </a:solidFill>
                <a:latin typeface="Liberation Sans"/>
              </a:rPr>
              <a:t>generic — tip derleme zamanında bellidir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Yazdığınız kod ve derleyicinin ürettiği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generic = kopyalama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3255264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yazdiginiz: TEK fonksiyon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fn render&lt;T: Draw&gt;(item: &amp;T) { item.draw();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render(&amp;player);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render(&amp;enemy);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derleyicinin urettigi: IKI ayri fonksiyon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fn render_for_Player(item: &amp;Player) { ...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fn render_for_Enemy(item: &amp;Enemy)   { ...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38344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Buna monomorphization denir. Çalışma zamanında "generic" diye bir şey kalmaz.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Kanıt: sembol tablosu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nm -C main | grep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1700784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t main::render_static      &lt;- Player surumu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t main::render_static      &lt;- Enemy surumu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t main::render_dynamic     &lt;- (dinamik yol) TEK surum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83864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Statik yol 2 kopya üretti. Hız buradan geliyor, ikili dosyanın şişmesi 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441E"/>
                </a:solidFill>
                <a:latin typeface="Liberation Sans"/>
              </a:rPr>
              <a:t>YOL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EFF1"/>
                </a:solidFill>
                <a:latin typeface="Liberation Serif"/>
              </a:rPr>
              <a:t>Dinamik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3A1A9"/>
                </a:solidFill>
                <a:latin typeface="Liberation Sans"/>
              </a:rPr>
              <a:t>dyn — tip ancak çalışırken belli olur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Aynı iş, tek fonksiyon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dyn = tabloya bakma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2633472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fn render(item: &amp;dyn Draw) { item.draw();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render(&amp;player);   // ayni fonksiyon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render(&amp;enemy);    // ayni fonksiyon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Derleyici tek kod uretir.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// Hangi draw() cagrilacagi CALISIRKEN bulunur.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dyn neden var: heterojen koleksiyon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generic'in yapamadığı tek şey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3255264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generic ile OLMAZ - Vec tek tip tutar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C1441E"/>
                </a:solidFill>
                <a:latin typeface="Liberation Mono"/>
              </a:rPr>
              <a:t>let sahne = vec![player, enemy];        // E0308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dyn ile OLUR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let sahne: Vec&lt;Box&lt;dyn Draw&gt;&gt; = vec![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    Box::new(player),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    Box::new(enemy),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for n in &amp;sahne { n.draw();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38344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Farklı tipleri tek listede tutmanız gerekiyorsa tek seçenek budur.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İki yol yan yana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aynı sonuç, farklı bedel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85292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376732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67335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Statik (generic)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00200"/>
            <a:ext cx="376732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67335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Dinamik (dyn)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21408"/>
            <a:ext cx="28529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03703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Yazım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121408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203703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Mono"/>
              </a:rPr>
              <a:t>fn f&lt;T: Draw&gt;(x: &amp;T)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121408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203703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Mono"/>
              </a:rPr>
              <a:t>fn f(x: &amp;dyn Draw)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33472"/>
            <a:ext cx="28529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7157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Tip ne zaman belli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2633472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7157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derlemede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633472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7157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çalışırken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45536"/>
            <a:ext cx="28529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2783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Üretilen kod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3145536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322783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her tip için bir kopya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145536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22783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tek kopya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657600"/>
            <a:ext cx="28529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39896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Çağrı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3657600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3739896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doğrudan, inline olabilir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3657600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3739896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tablodan okunur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169664"/>
            <a:ext cx="28529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2519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Hız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03320" y="4169664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42519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en hızlı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4169664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42519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çağrı başına küçük maliyet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4681728"/>
            <a:ext cx="28529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76402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İkili boyutu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03320" y="4681728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476402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büyür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4681728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4764024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büyümez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193792"/>
            <a:ext cx="28529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27608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Tek listede farklı tipler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5193792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0" y="527608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olmaz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5193792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527608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olur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441E"/>
                </a:solidFill>
                <a:latin typeface="Liberation Sans"/>
              </a:rPr>
              <a:t>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EFF1"/>
                </a:solidFill>
                <a:latin typeface="Liberation Serif"/>
              </a:rPr>
              <a:t>Aynı iki yol, tanıdık isimler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3A1A9"/>
                </a:solidFill>
                <a:latin typeface="Liberation Sans"/>
              </a:rPr>
              <a:t>template = statik · virtual = dinamik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Karşılıklar birebir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fikir aynı, sözdizimi farklı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120640" cy="3931920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074920" cy="3931920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9A441"/>
                </a:solidFill>
                <a:latin typeface="Liberation Sans"/>
              </a:rPr>
              <a:t>Statik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E9887"/>
                </a:solidFill>
                <a:latin typeface="Liberation Sans"/>
              </a:rPr>
              <a:t>Dinamik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C++: template&lt;typename 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06624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Rust: fn f&lt;T: Draw&gt;(x: &amp;T)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27248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Her tip için ayrı kod üretilir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68496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Doğrudan çağrı, inline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İkili büyür (code bloat)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8600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C++: virtual + pointer/reference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06624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Rust: &amp;dyn Trait / Box&lt;dyn Trait&gt;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27248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47872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Tek kod, tablo araması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68496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Dolaylı çağrı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8912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DEFF1"/>
                </a:solidFill>
                <a:latin typeface="Liberation Sans"/>
              </a:rPr>
              <a:t>İkili büyümez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Tek fark: hata ne zaman çıkar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C++ template vs Rust generic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2944368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C++: sablon gövdesi TIPE UYGULANINCA denetlenir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draw&lt;Player&gt;(p);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C1441E"/>
                </a:solidFill>
                <a:latin typeface="Liberation Mono"/>
              </a:rPr>
              <a:t>  error: no member named 'draw' in 'Player'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C1441E"/>
                </a:solidFill>
                <a:latin typeface="Liberation Mono"/>
              </a:rPr>
              <a:t>  ...instantiated from here            (40 satir daha)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Rust: soz IMZADA verilir, orada denetlenir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fn render&lt;T: Draw&gt;(item: &amp;T)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  error[E0369]: `&gt;` cannot be applied to type `T`   (tek satir)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2744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C++ şablonu "dener, tutmazsa patlar"; Rust generic'i "söz verir, tutulmazsa derlenmez".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1441E"/>
                </a:solidFill>
                <a:latin typeface="Liberation Sans"/>
              </a:rPr>
              <a:t>PERDE ARKASI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517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EFF1"/>
                </a:solidFill>
                <a:latin typeface="Liberation Serif"/>
              </a:rPr>
              <a:t>Dinamik çağrı fiziksel olarak nasıl oluyor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3A1A9"/>
                </a:solidFill>
                <a:latin typeface="Liberation Sans"/>
              </a:rPr>
              <a:t>vtable nedir, nerede durur, nasıl okunur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C++: tablo işaretçisi NESNENİN içinde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g++ ile ölçüldü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201168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struct PlainEnemy { int hp; };                      // virtual YOK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struct VirtEnemy  { int hp; virtual void draw(); };  // virtual VAR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sizeof(PlainEnemy) = 4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C1441E"/>
                </a:solidFill>
                <a:latin typeface="Liberation Mono"/>
              </a:rPr>
              <a:t>sizeof(VirtEnemy)  = 16    &lt;- nesnenin basina gizli vptr eklendi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C++'ta bedeli her nesne öder: bir milyon nesne = 8 MB fazladan işaretçi.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Rust: tablo işaretçisi REFERANSIN içinde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rustc ile ölçüldü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3255264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size_of::&lt;Enemy&gt;()      = 4 bayt   &lt;- Draw uygulasa da DEGISMEDI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size_of::&lt;&amp;Enemy&gt;()     = 8 bayt   ince isaretci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size_of::&lt;&amp;dyn Draw&gt;()  = 16 bayt  FAT POINTER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  &amp;dyn Draw = [ veri isaretcisi | vtable isaretcisi ]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                     |                  |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                     v                  v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                  Enemy            Draw for Enemy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                  hp = 30          tablosu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38344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Struct saf veri kalır. Bedeli sadece dyn kullanan öder.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Vtable'ın içinde ne 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bellekten okundu · her hücre 8 bayt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29844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Ofset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600200"/>
            <a:ext cx="385876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6733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İçerik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523036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7335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Ne işe yarar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21408"/>
            <a:ext cx="129844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03703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+0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2121408"/>
            <a:ext cx="385876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203703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drop_in_place adresi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121408"/>
            <a:ext cx="523036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203703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Nesne yok edilirken çağrılacak yıkıcı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33472"/>
            <a:ext cx="129844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7157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+8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2633472"/>
            <a:ext cx="385876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71576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size = 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633472"/>
            <a:ext cx="523036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7157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Mono"/>
              </a:rPr>
              <a:t>Kaç bayt serbest bırakılacağı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45536"/>
            <a:ext cx="129844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2783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+16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3145536"/>
            <a:ext cx="385876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22783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align =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145536"/>
            <a:ext cx="523036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2278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Hangi hizalamayla ayrıldığı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657600"/>
            <a:ext cx="129844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39896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+24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657600"/>
            <a:ext cx="385876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739896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1. metodun adresi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3657600"/>
            <a:ext cx="523036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73989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draw()  — trait'te ilk yazılan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169664"/>
            <a:ext cx="129844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2519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+32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48840" y="4169664"/>
            <a:ext cx="385876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251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2. metodun adresi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4169664"/>
            <a:ext cx="523036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251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area()  — trait'te ikinci yazılan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Tablo kaç tane? Bir tane.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1.000.000 Enemy yaratsanız 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3255264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  RUST                              C++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  Enemy [ hp ]  --+               Enemy [ vptr | hp ]  --+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  Enemy [ hp ]  --+--&gt; vtable     Enemy [ vptr | hp ]  --+--&gt; vtable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  Enemy [ hp ]  --+               Enemy [ vptr | hp ]  --+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  nesne = 4 bayt                  nesne = 16 bayt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  1.000.000 nesne = 4 MB          1.000.000 nesne = 16 MB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  tablo: 1 adet                   tablo: 1 adet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38344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Tablo iki dilde de tek. Fark, C++'ta her nesnenin ona giden bir işaretçi taşıması.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Statik yolda çağrının başına ne geliyor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derleyici tipi bildiği için gövdeyi içeri gömer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2944368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1) yazdiginiz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fn f(e: &amp;Enemy) -&gt; u64 { e.draw() + 1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2) derleyici biliyor: e bir Enemy, o halde draw() = Enemy::draw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3) Enemy::draw'in govdesi zaten tek satir:  self.hp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4) uretilen kod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E9887"/>
                </a:solidFill>
                <a:latin typeface="Liberation Mono"/>
              </a:rPr>
              <a:t>fn f(e: &amp;Enemy) -&gt; u64 { e.hp + 1 }      &lt;- CAGRI KALMADI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2744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Çağrı ortadan kalktı: geriye bir okuma + toplama kaldı. "Zero-cost abstraction" bu demek — soyutlama derlemede buharlaşır.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Dinamik yolda ise çağrı duruyor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derleyici tipi bilmediği için gömemez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07040" cy="3566160"/>
          </a:xfrm>
          <a:prstGeom prst="roundRect">
            <a:avLst/>
          </a:prstGeom>
          <a:solidFill>
            <a:srgbClr val="14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2412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yazdiginiz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>fn f(d: &amp;dyn Draw) -&gt; u64 { d.draw() + 1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derleyici: "d neyin nesi? bilmiyorum."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3A1A9"/>
                </a:solidFill>
                <a:latin typeface="Liberation Mono"/>
              </a:rPr>
              <a:t>// her cagrida: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//   1. fat pointer'in ikinci yarisindan tabloyu al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//   2. tablonun 24. baytindaki adresi oku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9A441"/>
                </a:solidFill>
                <a:latin typeface="Liberation Mono"/>
              </a:rPr>
              <a:t>//   3. o adrese git, don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DEFF1"/>
                </a:solidFill>
                <a:latin typeface="Liberation Mono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C1441E"/>
                </a:solidFill>
                <a:latin typeface="Liberation Mono"/>
              </a:rPr>
              <a:t>// govde gorunmedigi icin: inline yok, optimizasyon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A441"/>
                </a:solidFill>
                <a:latin typeface="Liberation Sans"/>
              </a:rPr>
              <a:t>Maliyet büyük değil ama sıfır da değil: her çağrıda bir okuma + dolaylı atlama.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82296" cy="1554480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EDEFF1"/>
                </a:solidFill>
                <a:latin typeface="Liberation Serif"/>
              </a:rPr>
              <a:t>dyn kullanmak = tabloya bakmak.
Tabloya konamayan bir metot varsa, o trait dyn olamaz.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3A1A9"/>
                </a:solidFill>
                <a:latin typeface="Liberation Sans"/>
              </a:rPr>
              <a:t>Buna object safety denir. Üç durumda metot tabloya sığmaz: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Neden bu metotlar tabloya sığmıyor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üçü de error[E0038]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58444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Metot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21868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7335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Tabloya koyarken sorun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600200"/>
            <a:ext cx="358444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7335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Çünkü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21408"/>
            <a:ext cx="358444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03703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Mono"/>
              </a:rPr>
              <a:t>fn f&lt;X&gt;(&amp;self, x: 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21408"/>
            <a:ext cx="321868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03703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kaç adres koyacağız?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121408"/>
            <a:ext cx="358444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203703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her X için ayrı kod üretilir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33472"/>
            <a:ext cx="358444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71576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Mono"/>
              </a:rPr>
              <a:t>fn clone_me(&amp;self) -&gt; 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633472"/>
            <a:ext cx="321868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71576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Mono"/>
              </a:rPr>
              <a:t>dönen değer kaç bayt?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2633472"/>
            <a:ext cx="358444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71576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Self'in boyutu çağıranda bilinmiyor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45536"/>
            <a:ext cx="358444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2783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fn create() -&gt; Self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145536"/>
            <a:ext cx="321868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22783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hangi nesnenin tablosu?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3145536"/>
            <a:ext cx="358444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22783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self yok, elde tablo da yok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Pratikte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9928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DEFF1"/>
                </a:solidFill>
                <a:latin typeface="Liberation Sans"/>
              </a:rPr>
              <a:t>Çoğu trait zaten object safe'tir; bu üç durum nadirdir.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76856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D9A441"/>
                </a:solidFill>
                <a:latin typeface="Liberation Sans"/>
              </a:rPr>
              <a:t>Çözüm: o metodu where Self: Sized ile işaretleyin — tabloya girmez,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43784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34056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D9A441"/>
                </a:solidFill>
                <a:latin typeface="Liberation Sans"/>
              </a:rPr>
              <a:t>trait dyn olabilir, metot yalnızca somut tipte çağrılır.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Hangisini ne zaman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6926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3A1A9"/>
                </a:solidFill>
                <a:latin typeface="Liberation Sans"/>
              </a:rPr>
              <a:t>varsayılan statiktir; dinamik gerekçeyle seçilir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669340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Durum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00200"/>
            <a:ext cx="3767328" cy="457200"/>
          </a:xfrm>
          <a:prstGeom prst="round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7335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DEFF1"/>
                </a:solidFill>
                <a:latin typeface="Liberation Sans"/>
              </a:rPr>
              <a:t>Seçim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669340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03703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Tek tipli koleksiyon, sıcak döngü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121408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03703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statik (generic)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33472"/>
            <a:ext cx="669340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15768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Tek listede farklı tipler tutmak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633472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7157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Mono"/>
              </a:rPr>
              <a:t>dinamik (dyn)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45536"/>
            <a:ext cx="669340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27832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Eklenti sistemi, tip derlemede bilinmiyor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145536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22783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Mono"/>
              </a:rPr>
              <a:t>dinamik (dyn)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57600"/>
            <a:ext cx="669340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39896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İkili boyutu kritik (gömülü sistem)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657600"/>
            <a:ext cx="3767328" cy="475488"/>
          </a:xfrm>
          <a:prstGeom prst="roundRect">
            <a:avLst/>
          </a:prstGeom>
          <a:solidFill>
            <a:srgbClr val="22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739896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Mono"/>
              </a:rPr>
              <a:t>dinamik (dyn)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69664"/>
            <a:ext cx="669340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DEFF1"/>
                </a:solidFill>
                <a:latin typeface="Liberation Sans"/>
              </a:rPr>
              <a:t>Kararsızsanız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169664"/>
            <a:ext cx="3767328" cy="475488"/>
          </a:xfrm>
          <a:prstGeom prst="roundRect">
            <a:avLst/>
          </a:prstGeom>
          <a:solidFill>
            <a:srgbClr val="2A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42519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3A1A9"/>
                </a:solidFill>
                <a:latin typeface="Liberation Sans"/>
              </a:rPr>
              <a:t>statik ile başlayın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DEFF1"/>
                </a:solidFill>
                <a:latin typeface="Liberation Serif"/>
              </a:rPr>
              <a:t>Beş cümle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709928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DEFF1"/>
                </a:solidFill>
                <a:latin typeface="Liberation Sans"/>
              </a:rPr>
              <a:t>İki yol da aynı işi yapar; fark, tipin ne zaman belli olduğudur.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76856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E9887"/>
                </a:solidFill>
                <a:latin typeface="Liberation Sans"/>
              </a:rPr>
              <a:t>Statik: her tip için ayrı kod — hızlı, ikili büyür.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43784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34056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D9A441"/>
                </a:solidFill>
                <a:latin typeface="Liberation Sans"/>
              </a:rPr>
              <a:t>Dinamik: tek kod + tablo — esnek, çağrı başına küçük maliyet.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10712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0098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DEFF1"/>
                </a:solidFill>
                <a:latin typeface="Liberation Sans"/>
              </a:rPr>
              <a:t>C++ karşılıkları: template ve virtual.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77640"/>
            <a:ext cx="109728" cy="109728"/>
          </a:xfrm>
          <a:prstGeom prst="ellipse">
            <a:avLst/>
          </a:prstGeom>
          <a:solidFill>
            <a:srgbClr val="C14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6791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1441E"/>
                </a:solidFill>
                <a:latin typeface="Liberation Sans"/>
              </a:rPr>
              <a:t>C++'ta tablo işaretçisi nesnenin içinde, Rust'ta referansın içinde.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