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AD55251-02F0-4A94-8FF9-1446721C8F6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Gün 1'de bu ikisine değindik. Bugün gerçekten açıyoruz — sunum bitince aynı şeyleri canlı kodda göreceğiz.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CD0DE98-BA46-4DCD-A330-4042DBEFD04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Sınıfa gerçekten sorun, 20 saniye bekleyin. Çoğu 'bir yere yazılıyor' diyecek. Asıl cevap: NEREYE yazıldığı tipe göre değişiyor ve bu fark Rust'ın bütün ownership kurallarının sebebi.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4A8097-138B-4140-817F-59C036DA30E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Benzetme: stack tabakları üst üste koymak — sadece en üsttekini alırsınız. Heap odadaki boş alana kutu koyup adresini bir kâğıda yazmaktır: kutuya ulaşmak için önce kâğıda bakmanız gerekir. Bu 'kâğıt' pointer, ve kendisi stack'te duruyor.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12C69A0-8345-4353-8624-6F4C0E98663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Buradaki tek sürpriz genelde char: 4 bayt, çünkü bir bayt değil bir Unicode kod noktası tutuyor. usize’ı vurgulayın — bir sonraki slaytta String’in 24 baytını 3 × usize diye açıklayacaksınız. i32 varsayılan: yazmadıysanız derleyici i32 seçti, tahmin etmedi. Taşma sorusu gelirse: debug’da panik, release’te wrap; isteyerek sarmak için wrapping_add.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DD4B8A-72D9-4CBB-8140-C3357C0F6F6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24 byte = 3 x 8. 64-bit makinede ptr, len ve capacity birer usize. Vec&lt;T&gt; de birebir aynı yapıda. Bu şemayı tahtaya çizin ve GÜN BOYU SİLMEYİN — move, borrow, clone anlatırken hep buraya döneceksiniz. SORU SORDURUN: 'let t = s;' deyince bu üç alan kopyalanır. Peki heap'teki veri kopyalanır mı? Hayır. O zaman iki ptr aynı yeri gösterir. Sorun ne olurdu?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DCA5E1-6182-414C-A643-ADEACB6CF16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Sinifin en cok takildigi yer burasi. Vurgu: char sabit 4 bayt (UTF-32 kod noktasi), ama String icinde harfler UTF-8 olarak degisken uzunlukta duruyor — bu yuzden ikisi ayni sey degil. "şğü".len() == 6 sonucunu canli calistirin, sinif sasirir. Indekslemenin neden yasak oldugunu buradan baglayin: s[0] bir harfin ortasina dusebilirdi, Rust bu hatayi derleme zamaninda kesiyor. &amp;s[0..2] calisir ama bayt sinirini tutturmazsaniz calisma zamaninda panikler.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BEA8E35-6E14-465D-8040-E5BFDBFAF98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Gun 2'nin en cok soru alan ikilisi. Uc yeri tek tek gosterin: literal ikilinin icinde (hicbir tahsis yok, 'static omur), String heap'te, &amp;str ise ikisinin de uzerine binebilen bir goruntu. "&amp;str neden 16 bayt?" -&gt; ptr + len, capacity yok cunku buyutme yetkisi yok. Pratik kural olarak birakin: fonksiyon parametresi &amp;str, sakladiginiz alan String. to_string()/String::from tahsis yapar, &amp;s[..] yapmaz.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DDE49E2-312F-429A-8716-78CB15FE18D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Vec ile String'in ayni yapida oldugunu burada baglayin: ikisi de ptr+len+cap, 24 bayt. Fark sadece icerigin tipi. [i32; 5] ve [i32; 6] ayri tip oldugu icin dizi uzunlugu fonksiyona parametre olarak esneyemez; dilim (&amp;[i32]) tam bu yuzden var. main.rs'te size_of_val(&amp;dizi) = 400 (100 x u8 icin 100) ve size_of_val(&amp;v) = 24 ciktisiyla gosterin.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D0C70D8-AAD4-461C-B83C-0D29D832924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Kapasite genelde ikiye katlanarak büyüyor. O yüzden push'un maliyeti 'amortize O(1)': çoğu zaman bedava, arada bir pahalı, ortalaması sabit. Gün 1'de BigO tablosunda gördükleri 'O(1) amortize' tam olarak buydu. Kaç eleman koyacağınızı biliyorsanız Vec::with_capacity(n) taşımayı hiç yaptırmaz. Bunu main.rs'te canlı göstereceksiniz — adresler gerçekten değişecek.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19BD4CD-78F6-43C2-A6D8-83130418203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C++'tan gelen fikir (Resource Acquisition Is Initialization) ama C++'ta bir SEÇENEK, Rust'ta ZORUNLU. Vurgulanacak nokta: drop çağrısı çalışma zamanında bir karar değil, ikilinin içine derleme zamanında yazılmış bir komut. 'Sıfır maliyet' derken kastedilen tam olarak bu. Ve bu sadece bellek için değil — dosya, soket, kilit hepsi aynı kuralla kapanıyor.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7C49781-0716-48E8-9E44-8D693B9CE0D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620979-7326-4342-BCF7-32225C04C3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C9E78B-27E1-4557-924A-937DDBBFD2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C8D3D2-C398-44B6-B8DB-73DD48D2A4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5F4A63-72DD-4A92-BA69-4AE7F6B2EA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D49D1C-7B40-4DAC-944D-6620C7B3CB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AAD4EF-0287-41D2-86E1-9048AF6ECF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CFC81F-03F9-4202-BEE9-657959059C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62B085-98FA-435E-AEC3-15DBC69BEB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C10B31-7D96-4788-826D-F1FBC68EA1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AD5BE9-8DBE-43F7-8863-0B87A827EC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583E64-C4BA-4B7C-BD48-8E25527829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Oval 2"/>
          <p:cNvSpPr/>
          <p:nvPr/>
        </p:nvSpPr>
        <p:spPr>
          <a:xfrm>
            <a:off x="9509760" y="-1371600"/>
            <a:ext cx="4754520" cy="4754520"/>
          </a:xfrm>
          <a:prstGeom prst="ellipse">
            <a:avLst/>
          </a:prstGeom>
          <a:solidFill>
            <a:srgbClr val="232D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Oval 3"/>
          <p:cNvSpPr/>
          <p:nvPr/>
        </p:nvSpPr>
        <p:spPr>
          <a:xfrm>
            <a:off x="10698480" y="-228600"/>
            <a:ext cx="1279800" cy="1279800"/>
          </a:xfrm>
          <a:prstGeom prst="ellipse">
            <a:avLst/>
          </a:prstGeom>
          <a:solidFill>
            <a:srgbClr val="C144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822960" y="1965960"/>
            <a:ext cx="8229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1441E"/>
                </a:solidFill>
                <a:effectLst/>
                <a:uFillTx/>
                <a:latin typeface="Arial"/>
              </a:rPr>
              <a:t>GÜN 2 · DERS 1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822960" y="2423160"/>
            <a:ext cx="87778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2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Stack ve Heap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822960" y="425196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Ownership'e girmeden önce haritayı çizelim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822960" y="2011680"/>
            <a:ext cx="10515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20000"/>
              </a:lnSpc>
            </a:pPr>
            <a:r>
              <a:rPr lang="en-US" sz="4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Bir değişken tanımladığınızda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20000"/>
              </a:lnSpc>
            </a:pPr>
            <a:r>
              <a:rPr lang="en-US" sz="40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bellekte tam olarak ne oluyor?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1463040" y="4069080"/>
            <a:ext cx="923508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30000"/>
              </a:lnSpc>
            </a:pPr>
            <a:r>
              <a:rPr lang="en-US" sz="17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RAM tek bir düz alan mı, yoksa bölümleri mi var?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30000"/>
              </a:lnSpc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640080" y="45720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İki bölge, iki ayrı kural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640080" y="129852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Aynı RAM, çok farklı davranış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4"/>
          <p:cNvSpPr/>
          <p:nvPr/>
        </p:nvSpPr>
        <p:spPr>
          <a:xfrm>
            <a:off x="822960" y="1965960"/>
            <a:ext cx="4983120" cy="3520080"/>
          </a:xfrm>
          <a:prstGeom prst="roundRect">
            <a:avLst>
              <a:gd name="adj" fmla="val 16667"/>
            </a:avLst>
          </a:prstGeom>
          <a:solidFill>
            <a:srgbClr val="2A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1188720" y="225864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C1441E"/>
                </a:solidFill>
                <a:effectLst/>
                <a:uFillTx/>
                <a:latin typeface="Times New Roman"/>
              </a:rPr>
              <a:t>Stack — yığın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1188720" y="2926080"/>
            <a:ext cx="42973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LIFO: son giren ilk çıkar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Boyut derleme zamanında belli olmalı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Ayırma = stack pointer'ı kaydırmak, birkaç komut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Fonksiyon çerçevesi girer açılır, çıkar kapanır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Sınırlı: ana thread ~8 MB, yeni thread 2 MB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i32, f64, bool, char, [T; N], &amp;T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7"/>
          <p:cNvSpPr/>
          <p:nvPr/>
        </p:nvSpPr>
        <p:spPr>
          <a:xfrm>
            <a:off x="6400800" y="1965960"/>
            <a:ext cx="4983120" cy="3520080"/>
          </a:xfrm>
          <a:prstGeom prst="roundRect">
            <a:avLst>
              <a:gd name="adj" fmla="val 16667"/>
            </a:avLst>
          </a:prstGeom>
          <a:solidFill>
            <a:srgbClr val="2A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8"/>
          <p:cNvSpPr/>
          <p:nvPr/>
        </p:nvSpPr>
        <p:spPr>
          <a:xfrm>
            <a:off x="6766560" y="225864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6E9887"/>
                </a:solidFill>
                <a:effectLst/>
                <a:uFillTx/>
                <a:latin typeface="Times New Roman"/>
              </a:rPr>
              <a:t>Heap — öbek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6766560" y="2926080"/>
            <a:ext cx="42973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Boyut çalışma zamanında belli olabilir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Ayırma = allocator'dan yer istemek, pahalı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İstediğiniz kadar yaşar — siz bırakana dek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Parçalanma (fragmentation) olur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Sınırsız: RAM kadar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String, Vec&lt;T&gt;, Box&lt;T&gt;, HashMap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640080" y="45720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Sabit boyutlu tipler: kaç bayt?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640080" y="129852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Boyutu derleme zamanında bilinen her şey stack’e sığar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822960" y="1965960"/>
            <a:ext cx="4983120" cy="3520080"/>
          </a:xfrm>
          <a:prstGeom prst="roundRect">
            <a:avLst>
              <a:gd name="adj" fmla="val 16667"/>
            </a:avLst>
          </a:prstGeom>
          <a:solidFill>
            <a:srgbClr val="2A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1188720" y="225864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C1441E"/>
                </a:solidFill>
                <a:effectLst/>
                <a:uFillTx/>
                <a:latin typeface="Times New Roman"/>
              </a:rPr>
              <a:t>Tamsayılar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7"/>
          <p:cNvSpPr/>
          <p:nvPr/>
        </p:nvSpPr>
        <p:spPr>
          <a:xfrm>
            <a:off x="1188720" y="2926080"/>
            <a:ext cx="42973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i8 / u8 → 1 bayt      i16 / u16 → 2 bayt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i32 / u32 → 4 bayt    i64 / u64 → 8 bayt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i128 / u128 → 16 bayt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i = işaretli (negatif olabilir), u = olamaz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u8: 0…255      i8: −128…127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Taşma: debug’da panik, release’te sarma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6400800" y="1965960"/>
            <a:ext cx="4983120" cy="3520080"/>
          </a:xfrm>
          <a:prstGeom prst="roundRect">
            <a:avLst>
              <a:gd name="adj" fmla="val 16667"/>
            </a:avLst>
          </a:prstGeom>
          <a:solidFill>
            <a:srgbClr val="2A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9"/>
          <p:cNvSpPr/>
          <p:nvPr/>
        </p:nvSpPr>
        <p:spPr>
          <a:xfrm>
            <a:off x="6766560" y="225864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6E9887"/>
                </a:solidFill>
                <a:effectLst/>
                <a:uFillTx/>
                <a:latin typeface="Times New Roman"/>
              </a:rPr>
              <a:t>usize ve varsayılanlar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6766560" y="2926080"/>
            <a:ext cx="42973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Tip yazmazsanız: tamsayı i32, ondalık f64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usize / isize: 64-bit makinede 8 bayt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len(), capacity(), indeks: hepsi usize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String’in 24 baytı = 3 × usize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char → 4 bayt, bool → 1, f32 → 4, f64 → 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EDEFF1"/>
                </a:solidFill>
                <a:effectLst/>
                <a:uFillTx/>
                <a:latin typeface="Arial"/>
              </a:rPr>
              <a:t>▪  Farklı tipler otomatik karışmaz: as ile çevirin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1"/>
          <p:cNvSpPr/>
          <p:nvPr/>
        </p:nvSpPr>
        <p:spPr>
          <a:xfrm>
            <a:off x="822960" y="5715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Bu tiplerin hepsi Copy: atarken taşınmaz, kopyalanır. Ownership derdi asıl heap’tekilerde.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640080" y="45720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String tam olarak nerede duruyor?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640080" y="129852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Cevap: ikisinde birden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4"/>
          <p:cNvSpPr/>
          <p:nvPr/>
        </p:nvSpPr>
        <p:spPr>
          <a:xfrm>
            <a:off x="822960" y="1965960"/>
            <a:ext cx="10515240" cy="3474360"/>
          </a:xfrm>
          <a:prstGeom prst="roundRect">
            <a:avLst>
              <a:gd name="adj" fmla="val 16667"/>
            </a:avLst>
          </a:prstGeom>
          <a:solidFill>
            <a:srgbClr val="141A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1097280" y="2167200"/>
            <a:ext cx="1005804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let s = String::from("merhaba");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STACK (24 byte)                 HEAP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+---------------+               +---+---+---+---+---+---+---+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| ptr      -----|-------------&gt; | m | e | r | h | a | b | a |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+---------------+               +---+---+---+---+---+---+---+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| len      = 7  |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+---------------+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| capacity = 7  |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+---------------+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Degiskenin KENDISI stack'te, VERISI heap'te.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822960" y="5715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İşte bu yüzden `s`'i kopyalamak ucuz ama tehlikeli olurdu — Gün 2'nin tamamı bu.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640080" y="45720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char bir harf değil, bir kod noktası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640080" y="129852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Tek tırnak char, çift tırnak metin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5"/>
          <p:cNvSpPr/>
          <p:nvPr/>
        </p:nvSpPr>
        <p:spPr>
          <a:xfrm>
            <a:off x="822960" y="1965960"/>
            <a:ext cx="10515240" cy="3108600"/>
          </a:xfrm>
          <a:prstGeom prst="roundRect">
            <a:avLst>
              <a:gd name="adj" fmla="val 16667"/>
            </a:avLst>
          </a:prstGeom>
          <a:solidFill>
            <a:srgbClr val="141A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6"/>
          <p:cNvSpPr/>
          <p:nvPr/>
        </p:nvSpPr>
        <p:spPr>
          <a:xfrm>
            <a:off x="1097280" y="2167200"/>
            <a:ext cx="100580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let c: char = 'ş';        // 4 BAYT - tek bir Unicode kod noktasi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let a: char = 'A';        // yine 4 bayt (icerik degil, TIP belirler)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let s = String::from("şğü");   // heap'te 6 BAYT tutuluyor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s.len()              // 6   &lt;- UTF-8 BAYT sayisi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s.chars().count()    // 3   &lt;- karakter (kod noktasi) sayisi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D9A441"/>
                </a:solidFill>
                <a:effectLst/>
                <a:uFillTx/>
                <a:latin typeface="Courier New"/>
              </a:rPr>
              <a:t>// s[0]  -&gt; DERLENMEZ. String indekslenemez, cunku 1 bayt = 1 harf degil.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for k in s.chars() { }   // harf harf gezmek icin .chars()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7"/>
          <p:cNvSpPr/>
          <p:nvPr/>
        </p:nvSpPr>
        <p:spPr>
          <a:xfrm>
            <a:off x="822960" y="53492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C1441E"/>
                </a:solidFill>
                <a:effectLst/>
                <a:uFillTx/>
                <a:latin typeface="Arial"/>
              </a:rPr>
              <a:t>Türkçe harf 2 bayt, ASCII 1 bayt, emoji 4 bayt. len() size harf sayısını vermez.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640080" y="45720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String mi, &amp;str mi?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640080" y="129852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Aynı metin, üç ayrı yer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5"/>
          <p:cNvSpPr/>
          <p:nvPr/>
        </p:nvSpPr>
        <p:spPr>
          <a:xfrm>
            <a:off x="822960" y="1965960"/>
            <a:ext cx="10515240" cy="2559960"/>
          </a:xfrm>
          <a:prstGeom prst="roundRect">
            <a:avLst>
              <a:gd name="adj" fmla="val 16667"/>
            </a:avLst>
          </a:prstGeom>
          <a:solidFill>
            <a:srgbClr val="141A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6"/>
          <p:cNvSpPr/>
          <p:nvPr/>
        </p:nvSpPr>
        <p:spPr>
          <a:xfrm>
            <a:off x="1097280" y="2167200"/>
            <a:ext cx="100580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let lit: &amp;str   = "merhaba";        // BINARY icinde, salt okunur, hep yasar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let own: String = lit.to_string();  // HEAP'te, sahibi var, buyuyebilir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let dlm: &amp;str   = &amp;own[0..3];       // baskasinin verisine bakan PENCERE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&amp;str    = ptr + len              16 bayt   sahiplik YOK, degistirilemez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String  = ptr + len + capacity   24 bayt   sahiplik VAR, drop eder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D9A441"/>
                </a:solidFill>
                <a:effectLst/>
                <a:uFillTx/>
                <a:latin typeface="Courier New"/>
              </a:rPr>
              <a:t>fn selam(ad: &amp;str) { }   // parametreyi &amp;str alin: "x" de &amp;String de gecer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7"/>
          <p:cNvSpPr/>
          <p:nvPr/>
        </p:nvSpPr>
        <p:spPr>
          <a:xfrm>
            <a:off x="822960" y="48006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6E9887"/>
                </a:solidFill>
                <a:effectLst/>
                <a:uFillTx/>
                <a:latin typeface="Arial"/>
              </a:rPr>
              <a:t>String sahiplenir ve büyür. &amp;str ödünç alır ve sadece bakar.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640080" y="45720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Dizi mi, Vec mi?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640080" y="129852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Uzunluk tipin parçası mı, değil mi?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5"/>
          <p:cNvSpPr/>
          <p:nvPr/>
        </p:nvSpPr>
        <p:spPr>
          <a:xfrm>
            <a:off x="822960" y="1965960"/>
            <a:ext cx="10515240" cy="2559960"/>
          </a:xfrm>
          <a:prstGeom prst="roundRect">
            <a:avLst>
              <a:gd name="adj" fmla="val 16667"/>
            </a:avLst>
          </a:prstGeom>
          <a:solidFill>
            <a:srgbClr val="141A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1097280" y="2167200"/>
            <a:ext cx="100580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let dizi: [i32; 5] = [1, 2, 3, 4, 5];      // 20 bayt, TAMAMI stack'te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let v:    Vec&lt;i32&gt; = vec![1, 2, 3, 4, 5];  // stack 24 bayt + heap 20 bayt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[i32; 5] ile [i32; 6] AYRI TIPLERDIR - uzunluk tipin parcasi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6E9887"/>
                </a:solidFill>
                <a:effectLst/>
                <a:uFillTx/>
                <a:latin typeface="Courier New"/>
              </a:rPr>
              <a:t>  Vec&lt;i32&gt;  tek tiptir              - uzunluk calisma zamaninda degisir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let d: &amp;[i32] = &amp;dizi[..];   // dilim = ptr + len, 16 bayt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let e: &amp;[i32] = &amp;v[..];      // ayni tip -&gt; fonksiyonlariniz &amp;[i32] alsin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7"/>
          <p:cNvSpPr/>
          <p:nvPr/>
        </p:nvSpPr>
        <p:spPr>
          <a:xfrm>
            <a:off x="822960" y="48006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D9A441"/>
                </a:solidFill>
                <a:effectLst/>
                <a:uFillTx/>
                <a:latin typeface="Arial"/>
              </a:rPr>
              <a:t>Boyut derleme zamanında belliyse dizi, belli değilse Vec. String zaten bir Vec&lt;u8&gt;’dir.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640080" y="45720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Kapasite dolduğunda ne oluyor?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640080" y="129852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Vec ve String büyürken taşınır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4"/>
          <p:cNvSpPr/>
          <p:nvPr/>
        </p:nvSpPr>
        <p:spPr>
          <a:xfrm>
            <a:off x="822960" y="1965960"/>
            <a:ext cx="10515240" cy="2925720"/>
          </a:xfrm>
          <a:prstGeom prst="roundRect">
            <a:avLst>
              <a:gd name="adj" fmla="val 16667"/>
            </a:avLst>
          </a:prstGeom>
          <a:solidFill>
            <a:srgbClr val="141A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1097280" y="2167200"/>
            <a:ext cx="1005804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let mut v = Vec::new();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v.push(1);   len=1  cap=4    adres: 0x5f2a10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v.push(2);   len=2  cap=4    adres: 0x5f2a10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v.push(3);   len=3  cap=4    adres: 0x5f2a10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v.push(4);   len=4  cap=4    adres: 0x5f2a10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v.push(5);   len=5  cap=8    adres: 0x5f2b40   &lt;-- TASINDI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Kapasite dolunca: yeni yer al, hepsini kopyala, eskisini birak.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822960" y="516636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C1441E"/>
                </a:solidFill>
                <a:effectLst/>
                <a:uFillTx/>
                <a:latin typeface="Arial"/>
              </a:rPr>
              <a:t>Bu yüzden bir Vec'in içine referans tutmak tehlikelidir — adres değişebilir.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640080" y="45720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Heap'i kim bırakıyor?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640080" y="129852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Kapsam biter, derleyici drop'u kendisi çağırır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4"/>
          <p:cNvSpPr/>
          <p:nvPr/>
        </p:nvSpPr>
        <p:spPr>
          <a:xfrm>
            <a:off x="822960" y="1965960"/>
            <a:ext cx="10515240" cy="3200040"/>
          </a:xfrm>
          <a:prstGeom prst="roundRect">
            <a:avLst>
              <a:gd name="adj" fmla="val 16667"/>
            </a:avLst>
          </a:prstGeom>
          <a:solidFill>
            <a:srgbClr val="141A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5"/>
          <p:cNvSpPr/>
          <p:nvPr/>
        </p:nvSpPr>
        <p:spPr>
          <a:xfrm>
            <a:off x="1097280" y="2167200"/>
            <a:ext cx="1005804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  let s = String::from("merhaba");   // heap'te yer alindi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  // ... s ile isler ...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}                                       // kapsam bitti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                                      // derleyici burada drop(s) cagirir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                                        // heap'teki yer geri verildi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// Elle free() yok.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// Arka planda calisan cop toplayici yok.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400" b="0" u="none" strike="noStrike">
                <a:solidFill>
                  <a:srgbClr val="EDEFF1"/>
                </a:solidFill>
                <a:effectLst/>
                <a:uFillTx/>
                <a:latin typeface="Courier New"/>
              </a:rPr>
              <a:t>// Cagriyi derleyici DERLEME ZAMANINDA koydu.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822960" y="544068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6E9887"/>
                </a:solidFill>
                <a:effectLst/>
                <a:uFillTx/>
                <a:latin typeface="Arial"/>
              </a:rPr>
              <a:t>RAII: kaynağın ömrü kapsamın ömrüdür.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2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Oval 2"/>
          <p:cNvSpPr/>
          <p:nvPr/>
        </p:nvSpPr>
        <p:spPr>
          <a:xfrm>
            <a:off x="-1463040" y="4297680"/>
            <a:ext cx="4205880" cy="4205880"/>
          </a:xfrm>
          <a:prstGeom prst="ellipse">
            <a:avLst/>
          </a:prstGeom>
          <a:solidFill>
            <a:srgbClr val="232D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1280160" y="246888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EDEFF1"/>
                </a:solidFill>
                <a:effectLst/>
                <a:uFillTx/>
                <a:latin typeface="Times New Roman"/>
              </a:rPr>
              <a:t>Şimdi canlı görelim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1280160" y="370332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30000"/>
              </a:lnSpc>
            </a:pPr>
            <a:r>
              <a:rPr lang="en-US" sz="17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main.rs'te gerçek adresleri, kapasite büyümesini ve drop sırasını yazdıracağız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30000"/>
              </a:lnSpc>
            </a:pPr>
            <a:r>
              <a:rPr lang="en-US" sz="1700" b="0" u="none" strike="noStrike">
                <a:solidFill>
                  <a:srgbClr val="93A1A9"/>
                </a:solidFill>
                <a:effectLst/>
                <a:uFillTx/>
                <a:latin typeface="Arial"/>
              </a:rPr>
              <a:t>Sonraki blok: bu şemanın üzerine Ownership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2026-08-22T22:57:12Z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